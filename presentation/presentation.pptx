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334" r:id="rId5"/>
    <p:sldId id="259" r:id="rId6"/>
    <p:sldId id="260" r:id="rId7"/>
    <p:sldId id="262" r:id="rId8"/>
    <p:sldId id="321" r:id="rId9"/>
    <p:sldId id="266" r:id="rId10"/>
    <p:sldId id="267" r:id="rId11"/>
    <p:sldId id="322" r:id="rId12"/>
    <p:sldId id="269" r:id="rId13"/>
    <p:sldId id="270" r:id="rId14"/>
    <p:sldId id="335" r:id="rId15"/>
    <p:sldId id="272" r:id="rId16"/>
    <p:sldId id="274" r:id="rId17"/>
    <p:sldId id="279" r:id="rId18"/>
    <p:sldId id="278" r:id="rId19"/>
    <p:sldId id="281" r:id="rId20"/>
    <p:sldId id="336" r:id="rId21"/>
    <p:sldId id="282" r:id="rId22"/>
    <p:sldId id="286" r:id="rId23"/>
    <p:sldId id="287" r:id="rId24"/>
    <p:sldId id="288" r:id="rId25"/>
    <p:sldId id="290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5" r:id="rId37"/>
    <p:sldId id="306" r:id="rId38"/>
    <p:sldId id="307" r:id="rId39"/>
    <p:sldId id="332" r:id="rId40"/>
    <p:sldId id="309" r:id="rId41"/>
    <p:sldId id="330" r:id="rId42"/>
    <p:sldId id="310" r:id="rId43"/>
    <p:sldId id="315" r:id="rId44"/>
    <p:sldId id="316" r:id="rId45"/>
    <p:sldId id="317" r:id="rId46"/>
    <p:sldId id="319" r:id="rId47"/>
    <p:sldId id="320" r:id="rId48"/>
    <p:sldId id="333" r:id="rId49"/>
    <p:sldId id="280" r:id="rId50"/>
    <p:sldId id="265" r:id="rId51"/>
    <p:sldId id="275" r:id="rId52"/>
    <p:sldId id="337" r:id="rId53"/>
    <p:sldId id="285" r:id="rId54"/>
    <p:sldId id="308" r:id="rId55"/>
    <p:sldId id="338" r:id="rId56"/>
    <p:sldId id="339" r:id="rId5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E3204-DCE4-4FD1-96AA-73C46CB78857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F3626-49FC-4CCF-A9E7-7057E65B82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91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F3626-49FC-4CCF-A9E7-7057E65B828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56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90586-CFAD-1873-7095-6E50D26E7F7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570E47-4426-DB1A-EE7D-BEBE52A23F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BA8EB-5DEC-EC9E-2055-3664352D79D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7579F1-81A4-429E-A762-73C108ECDC49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C2019A-ABCB-AE48-620A-D8BDBFAB6B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E7B657-E45C-522D-D9D3-5E3103A14E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1651C4-1696-468E-84A6-373373C5869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5431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5A944-A374-4DAF-B174-ED2A2777436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6C788-45DB-BE6B-B958-85DB56C4B85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FF9147-81B7-9BCF-9590-36A8DCC994A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103941-2C9C-4F40-8FF4-DA28BDFE3D14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DDE892-B98A-F458-3DD4-53A853C5E19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2A7B77-A4C7-DEBC-B3E3-37336FB200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8A8B04-6A18-460B-9CC6-BC85B21B86B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5843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30724-4CA4-1B44-DC2F-7832E7084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0FC5F4-A457-F97A-7320-14A1C832E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493CB-D4EB-82A0-B072-CDEC83CCF0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37ABB4-3AD5-4570-A1C8-C6435E31C638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37F5A0-C817-EF3A-6DA2-2495B204D13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533F91-F419-BEFA-5C9D-D5EFF1E824A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777304-4448-4F43-A004-90315DE1FFD2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18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AA9E4-ABA9-5DE7-CDB9-EE85075117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41A6F5-F87E-FE27-2440-14AFE9E5039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A83AE5-F71E-1208-89F8-FD848413C90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9407C1-CD16-21C3-E33D-7A85625360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20471F-8F84-4CF8-B3AC-2CAE6C36D47B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CA2796-3BEE-62E2-5175-C7D2B7465E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A37D86-11E7-10D9-7159-A5D553F5B3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780610-B829-4C02-84CE-CB99C6C014E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06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182AE-0615-B21D-3A08-A0E5CD2FC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065CCE-8BE4-341A-DDF7-FBAEF4D71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02381E-9B56-EB4C-773E-44877543D97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4591ED-862A-6C3B-7C81-89F521FD362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7C4104-0592-A59C-2EBD-B5D3B9C89158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6979AB-C85A-167F-0400-1483587E6E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7EDF1B-6BE2-4CE9-8CD1-54D79D13208C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4E481DA-0EDC-7FA4-6993-5FFFD1DB684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A5BA6A-9DBD-7DC6-7100-BEC5156163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BE9F7C-A8A4-4483-AECB-78536657AFA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8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0D20B-1842-4ABC-548A-05019DBE5B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910962C-75F6-72ED-02F6-B1D38DB8B0D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CE7C93-D33F-418A-85C0-D6A64A31BCE7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EDDFED-1991-8790-9A46-C7A9804387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1A810F-0DA6-120B-1560-FA18FE80F6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6A0EE2-289A-48B5-82B8-15C0DC07A16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92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BF9737-C4D4-19D3-5735-7431590607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11C211-6F2E-4E14-ADEA-83EA3D87A0C5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900130-42BF-6098-DA45-E8CD758F9C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691AB5-DCD6-EFCA-05D7-705A1A07F6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BF0871-A65B-46FF-A21D-AD2B8CA5A9F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09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1DD6A-7DC1-F7DB-F39B-63EEFB0D9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7A2AAC-D479-B9E4-5D9F-7FEA9439F9E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8268F9-AB44-9DE7-0F41-EBCC4E1B3DA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FA3C1B-9104-B8DA-230F-B67E9E0A1E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317E1F-36B8-470F-ADA8-F0DF06BFE161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67476A-6E00-C0AD-7954-314392BBA8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9C480-A7A6-1559-F05F-67EB40728A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826D27-C2AC-4F6D-AABC-B78D72372BD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8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AB555-F3BE-EE91-D4D3-D8BB3C541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DFD4F1-3736-04FF-9F09-52814CE9D6A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8FEFD4-640F-D9D3-164D-D343F14D64B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11FE4F-C187-5DC0-863C-0FEAD1114A7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830D24-0713-4DCE-8A5D-A8F29A3B94BE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893753-F0A5-991E-B66A-741072B51D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2C1FBC-6F38-1958-232A-C4F1A5F14B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74B4E8C-E7DC-4DCF-AA41-2E076C5F9B5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88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A199B-EDB9-225D-5C0B-20399B3C64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61FFF9-8468-6CAC-5D25-3A8EFEA722A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C762E8-CB20-240A-CB79-275D291517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8A7385-580B-4367-80A0-FF5169965C9E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338B8E-B0E8-9BA1-B1E8-B67DE30C9C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2AB97-027B-766B-E072-1F6B4B0DC1C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E7EFA0-AD24-4127-8F10-E2A48BD7FAE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54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1E31D0-F532-2FAA-120E-A9F7C788E0F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6C8E76-AD84-A557-CCC8-8313C159AB1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43B86B-3234-9AA7-1650-A6F85FC1E38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51A095-AA19-422C-BFB0-3B49F8382D6E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34B6EA-B35C-3B99-2BCA-0D61805AEF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benjamin.sappler@tum.de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01B41-95F5-7211-29D7-825CFB7C39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D703DF-4EE0-49DC-B7FE-B9B0C9915D2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15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4B35F72-66E1-158D-BEE8-74825C0C3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AA028-45B7-AB5C-5818-34AF26C6D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0DBC9-E55F-D41C-1E4B-ED955B34CCA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D2497F06-0ECC-46BA-AC45-4A94C91F1EEF}" type="datetime1">
              <a:rPr lang="de-DE"/>
              <a:pPr lvl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3C7781-5FFF-9F87-BFBC-E0AC780F99A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39EDB3-B62A-B2BD-EB33-63E9A0F6D6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B06F994-8AB7-4B1C-8EB5-C0A94234276E}" type="slidenum"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tags" Target="../tags/tag5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tags" Target="../tags/tag10.xml"/><Relationship Id="rId7" Type="http://schemas.openxmlformats.org/officeDocument/2006/relationships/image" Target="../media/image25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tags" Target="../tags/tag13.xml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17.xml"/><Relationship Id="rId7" Type="http://schemas.openxmlformats.org/officeDocument/2006/relationships/image" Target="../media/image57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svg"/><Relationship Id="rId5" Type="http://schemas.openxmlformats.org/officeDocument/2006/relationships/image" Target="../media/image77.sv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71.png"/><Relationship Id="rId4" Type="http://schemas.openxmlformats.org/officeDocument/2006/relationships/image" Target="../media/image89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sv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6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svg"/><Relationship Id="rId3" Type="http://schemas.openxmlformats.org/officeDocument/2006/relationships/image" Target="../media/image114.svg"/><Relationship Id="rId7" Type="http://schemas.openxmlformats.org/officeDocument/2006/relationships/image" Target="../media/image118.sv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svg"/><Relationship Id="rId5" Type="http://schemas.openxmlformats.org/officeDocument/2006/relationships/image" Target="../media/image116.sv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sv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tags" Target="../tags/tag32.xml"/><Relationship Id="rId7" Type="http://schemas.openxmlformats.org/officeDocument/2006/relationships/image" Target="../media/image128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31.png"/><Relationship Id="rId4" Type="http://schemas.openxmlformats.org/officeDocument/2006/relationships/tags" Target="../tags/tag33.xml"/><Relationship Id="rId9" Type="http://schemas.openxmlformats.org/officeDocument/2006/relationships/image" Target="../media/image13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tags" Target="../tags/tag36.xml"/><Relationship Id="rId7" Type="http://schemas.openxmlformats.org/officeDocument/2006/relationships/image" Target="../media/image134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33.png"/><Relationship Id="rId11" Type="http://schemas.openxmlformats.org/officeDocument/2006/relationships/image" Target="../media/image138.sv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37.png"/><Relationship Id="rId4" Type="http://schemas.openxmlformats.org/officeDocument/2006/relationships/tags" Target="../tags/tag37.xml"/><Relationship Id="rId9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sv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144.sv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svg"/><Relationship Id="rId4" Type="http://schemas.openxmlformats.org/officeDocument/2006/relationships/image" Target="../media/image142.svg"/><Relationship Id="rId9" Type="http://schemas.openxmlformats.org/officeDocument/2006/relationships/image" Target="../media/image1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2.sv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image" Target="../media/image156.sv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svg"/><Relationship Id="rId4" Type="http://schemas.openxmlformats.org/officeDocument/2006/relationships/image" Target="../media/image154.svg"/><Relationship Id="rId9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sv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tags" Target="../tags/tag44.xml"/><Relationship Id="rId7" Type="http://schemas.openxmlformats.org/officeDocument/2006/relationships/image" Target="../media/image166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5" Type="http://schemas.openxmlformats.org/officeDocument/2006/relationships/image" Target="../media/image171.svg"/><Relationship Id="rId4" Type="http://schemas.openxmlformats.org/officeDocument/2006/relationships/image" Target="../media/image17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2.svg"/><Relationship Id="rId3" Type="http://schemas.openxmlformats.org/officeDocument/2006/relationships/image" Target="../media/image172.png"/><Relationship Id="rId7" Type="http://schemas.openxmlformats.org/officeDocument/2006/relationships/image" Target="../media/image176.svg"/><Relationship Id="rId12" Type="http://schemas.openxmlformats.org/officeDocument/2006/relationships/image" Target="../media/image181.png"/><Relationship Id="rId17" Type="http://schemas.openxmlformats.org/officeDocument/2006/relationships/image" Target="../media/image186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5.png"/><Relationship Id="rId1" Type="http://schemas.openxmlformats.org/officeDocument/2006/relationships/tags" Target="../tags/tag46.xml"/><Relationship Id="rId6" Type="http://schemas.openxmlformats.org/officeDocument/2006/relationships/image" Target="../media/image175.png"/><Relationship Id="rId11" Type="http://schemas.openxmlformats.org/officeDocument/2006/relationships/image" Target="../media/image180.svg"/><Relationship Id="rId5" Type="http://schemas.openxmlformats.org/officeDocument/2006/relationships/image" Target="../media/image174.svg"/><Relationship Id="rId15" Type="http://schemas.openxmlformats.org/officeDocument/2006/relationships/image" Target="../media/image184.svg"/><Relationship Id="rId10" Type="http://schemas.openxmlformats.org/officeDocument/2006/relationships/image" Target="../media/image179.png"/><Relationship Id="rId4" Type="http://schemas.openxmlformats.org/officeDocument/2006/relationships/image" Target="../media/image173.png"/><Relationship Id="rId9" Type="http://schemas.openxmlformats.org/officeDocument/2006/relationships/image" Target="../media/image178.svg"/><Relationship Id="rId14" Type="http://schemas.openxmlformats.org/officeDocument/2006/relationships/image" Target="../media/image18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187.png"/><Relationship Id="rId4" Type="http://schemas.openxmlformats.org/officeDocument/2006/relationships/image" Target="../media/image1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sv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6" Type="http://schemas.openxmlformats.org/officeDocument/2006/relationships/image" Target="../media/image196.sv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svg"/><Relationship Id="rId4" Type="http://schemas.openxmlformats.org/officeDocument/2006/relationships/image" Target="../media/image194.svg"/><Relationship Id="rId9" Type="http://schemas.openxmlformats.org/officeDocument/2006/relationships/image" Target="../media/image19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7" Type="http://schemas.openxmlformats.org/officeDocument/2006/relationships/image" Target="../media/image20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05.svg"/><Relationship Id="rId5" Type="http://schemas.openxmlformats.org/officeDocument/2006/relationships/image" Target="../media/image204.png"/><Relationship Id="rId4" Type="http://schemas.openxmlformats.org/officeDocument/2006/relationships/image" Target="../media/image203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sv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209.svg"/><Relationship Id="rId11" Type="http://schemas.openxmlformats.org/officeDocument/2006/relationships/image" Target="../media/image201.png"/><Relationship Id="rId5" Type="http://schemas.openxmlformats.org/officeDocument/2006/relationships/image" Target="../media/image208.png"/><Relationship Id="rId10" Type="http://schemas.openxmlformats.org/officeDocument/2006/relationships/image" Target="../media/image213.svg"/><Relationship Id="rId4" Type="http://schemas.openxmlformats.org/officeDocument/2006/relationships/image" Target="../media/image207.svg"/><Relationship Id="rId9" Type="http://schemas.openxmlformats.org/officeDocument/2006/relationships/image" Target="../media/image21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sv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217.svg"/><Relationship Id="rId5" Type="http://schemas.openxmlformats.org/officeDocument/2006/relationships/image" Target="../media/image216.png"/><Relationship Id="rId10" Type="http://schemas.openxmlformats.org/officeDocument/2006/relationships/image" Target="../media/image201.png"/><Relationship Id="rId4" Type="http://schemas.openxmlformats.org/officeDocument/2006/relationships/image" Target="../media/image215.svg"/><Relationship Id="rId9" Type="http://schemas.openxmlformats.org/officeDocument/2006/relationships/image" Target="../media/image19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5" Type="http://schemas.openxmlformats.org/officeDocument/2006/relationships/image" Target="../media/image222.png"/><Relationship Id="rId4" Type="http://schemas.openxmlformats.org/officeDocument/2006/relationships/image" Target="../media/image221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8.sv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svg"/><Relationship Id="rId7" Type="http://schemas.openxmlformats.org/officeDocument/2006/relationships/image" Target="../media/image231.sv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svg"/><Relationship Id="rId4" Type="http://schemas.openxmlformats.org/officeDocument/2006/relationships/image" Target="../media/image228.png"/><Relationship Id="rId9" Type="http://schemas.openxmlformats.org/officeDocument/2006/relationships/image" Target="../media/image233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sv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sv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7" Type="http://schemas.openxmlformats.org/officeDocument/2006/relationships/image" Target="../media/image2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240.svg"/><Relationship Id="rId5" Type="http://schemas.openxmlformats.org/officeDocument/2006/relationships/image" Target="../media/image239.png"/><Relationship Id="rId4" Type="http://schemas.openxmlformats.org/officeDocument/2006/relationships/image" Target="../media/image168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svg"/><Relationship Id="rId3" Type="http://schemas.openxmlformats.org/officeDocument/2006/relationships/image" Target="../media/image187.png"/><Relationship Id="rId7" Type="http://schemas.openxmlformats.org/officeDocument/2006/relationships/image" Target="../media/image244.svg"/><Relationship Id="rId12" Type="http://schemas.openxmlformats.org/officeDocument/2006/relationships/image" Target="../media/image249.png"/><Relationship Id="rId17" Type="http://schemas.openxmlformats.org/officeDocument/2006/relationships/image" Target="../media/image254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3.png"/><Relationship Id="rId1" Type="http://schemas.openxmlformats.org/officeDocument/2006/relationships/tags" Target="../tags/tag60.xml"/><Relationship Id="rId6" Type="http://schemas.openxmlformats.org/officeDocument/2006/relationships/image" Target="../media/image175.png"/><Relationship Id="rId11" Type="http://schemas.openxmlformats.org/officeDocument/2006/relationships/image" Target="../media/image248.svg"/><Relationship Id="rId5" Type="http://schemas.openxmlformats.org/officeDocument/2006/relationships/image" Target="../media/image243.svg"/><Relationship Id="rId15" Type="http://schemas.openxmlformats.org/officeDocument/2006/relationships/image" Target="../media/image252.svg"/><Relationship Id="rId10" Type="http://schemas.openxmlformats.org/officeDocument/2006/relationships/image" Target="../media/image247.png"/><Relationship Id="rId4" Type="http://schemas.openxmlformats.org/officeDocument/2006/relationships/image" Target="../media/image242.png"/><Relationship Id="rId9" Type="http://schemas.openxmlformats.org/officeDocument/2006/relationships/image" Target="../media/image246.svg"/><Relationship Id="rId14" Type="http://schemas.openxmlformats.org/officeDocument/2006/relationships/image" Target="../media/image25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80678B-890D-204E-0437-0C592733508C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sz="5400" dirty="0"/>
              <a:t>Development of a Diagonal Isometric Tensor Network Algorithm</a:t>
            </a:r>
            <a:endParaRPr lang="de-DE" sz="5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5439CB-D9EA-E445-CA34-A7CB512A93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2133598"/>
          </a:xfrm>
        </p:spPr>
        <p:txBody>
          <a:bodyPr>
            <a:normAutofit/>
          </a:bodyPr>
          <a:lstStyle/>
          <a:p>
            <a:pPr lvl="0"/>
            <a:r>
              <a:rPr lang="de-DE" sz="2800" dirty="0" err="1"/>
              <a:t>Master‘s</a:t>
            </a:r>
            <a:r>
              <a:rPr lang="de-DE" sz="2800" dirty="0"/>
              <a:t> </a:t>
            </a:r>
            <a:r>
              <a:rPr lang="de-DE" sz="2800" dirty="0" err="1"/>
              <a:t>thesis</a:t>
            </a:r>
            <a:endParaRPr lang="de-DE" sz="2800" dirty="0"/>
          </a:p>
          <a:p>
            <a:pPr lvl="0"/>
            <a:r>
              <a:rPr lang="de-DE" dirty="0"/>
              <a:t>Benjamin </a:t>
            </a:r>
            <a:r>
              <a:rPr lang="de-DE" dirty="0" err="1"/>
              <a:t>Sappler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D5310-9C64-F258-8AA7-0A39B7AC08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QMB </a:t>
            </a:r>
            <a:r>
              <a:rPr lang="de-DE" dirty="0" err="1"/>
              <a:t>systems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5AC6AE-8122-DDA0-408C-574A3F99BA3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of</a:t>
            </a:r>
            <a:r>
              <a:rPr lang="de-DE" dirty="0"/>
              <a:t> QMB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hard</a:t>
            </a:r>
            <a:r>
              <a:rPr lang="de-DE" dirty="0"/>
              <a:t> </a:t>
            </a:r>
            <a:r>
              <a:rPr lang="de-DE" dirty="0" err="1"/>
              <a:t>problem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Fully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wavefunction</a:t>
            </a:r>
            <a:r>
              <a:rPr lang="de-DE" dirty="0"/>
              <a:t>:         </a:t>
            </a:r>
            <a:r>
              <a:rPr lang="de-DE" dirty="0" err="1"/>
              <a:t>parameters</a:t>
            </a:r>
            <a:r>
              <a:rPr lang="de-DE" dirty="0"/>
              <a:t>!</a:t>
            </a:r>
          </a:p>
          <a:p>
            <a:r>
              <a:rPr lang="de-DE" dirty="0" err="1"/>
              <a:t>Approximations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!</a:t>
            </a:r>
          </a:p>
          <a:p>
            <a:endParaRPr lang="de-DE" dirty="0"/>
          </a:p>
        </p:txBody>
      </p:sp>
      <p:pic>
        <p:nvPicPr>
          <p:cNvPr id="5" name="Grafik 4" descr="\documentclass{article}&#10;\usepackage{amsmath}&#10;\usepackage{mathtools}&#10;\usepackage{braket}&#10;\pagestyle{empty}&#10;\begin{document}&#10;\begin{equation*}&#10;\ket{\Psi} = \sum_{i_1,i_2,\dots,i_N=1}^{d}\Psi_{i_1,i_2,\dots,i_N} \ket{i_1} \otimes \ket{i_2} \otimes \cdots \otimes \ket{i_N} &#10;\end{equation*}&#10;\end{document}" title="IguanaTex Bitmap Display">
            <a:extLst>
              <a:ext uri="{FF2B5EF4-FFF2-40B4-BE49-F238E27FC236}">
                <a16:creationId xmlns:a16="http://schemas.microsoft.com/office/drawing/2014/main" id="{858F25CF-0CC9-009E-8A33-8FF87454E2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80" y="2487448"/>
            <a:ext cx="7666040" cy="1082182"/>
          </a:xfrm>
          <a:prstGeom prst="rect">
            <a:avLst/>
          </a:prstGeom>
        </p:spPr>
      </p:pic>
      <p:pic>
        <p:nvPicPr>
          <p:cNvPr id="11" name="Grafik 10" descr="\documentclass{article}&#10;\usepackage{amsmath}&#10;\usepackage{mathtools}&#10;\pagestyle{empty}&#10;\begin{document}&#10;\begin{equation*}&#10;d^N&#10;\end{equation*}&#10;\end{document}" title="IguanaTex Bitmap Display">
            <a:extLst>
              <a:ext uri="{FF2B5EF4-FFF2-40B4-BE49-F238E27FC236}">
                <a16:creationId xmlns:a16="http://schemas.microsoft.com/office/drawing/2014/main" id="{13C95CDB-0DD5-313E-AB4F-F0EA827DFE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400" y="3905161"/>
            <a:ext cx="409600" cy="3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E5002-FDC6-1DD5-6103-AC114D33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90581-13F7-EBA8-E626-B3E755E5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e-DE" dirty="0"/>
              <a:t>Matrix </a:t>
            </a:r>
            <a:r>
              <a:rPr lang="de-DE" dirty="0" err="1"/>
              <a:t>Product</a:t>
            </a:r>
            <a:r>
              <a:rPr lang="de-DE" dirty="0"/>
              <a:t> States (MPS)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Isometric</a:t>
            </a:r>
            <a:r>
              <a:rPr lang="de-DE" dirty="0"/>
              <a:t> Tensor </a:t>
            </a:r>
            <a:r>
              <a:rPr lang="de-DE" dirty="0" err="1"/>
              <a:t>Product</a:t>
            </a:r>
            <a:r>
              <a:rPr lang="de-DE" dirty="0"/>
              <a:t> States (</a:t>
            </a:r>
            <a:r>
              <a:rPr lang="de-DE" dirty="0" err="1"/>
              <a:t>isoTPS</a:t>
            </a:r>
            <a:r>
              <a:rPr lang="de-DE" dirty="0"/>
              <a:t>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Alternative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EDBDAF-644B-A1FD-01CA-5FFB88C65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760" y="1891919"/>
            <a:ext cx="4057650" cy="4229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53EC39C-F712-6700-6595-D0EA96178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305" y="2726405"/>
            <a:ext cx="1551623" cy="16116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58FCC0-08C4-EE1D-BC7D-A8E5BAAA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2782" y="4235804"/>
            <a:ext cx="1767840" cy="185928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8927B3F-A898-AFB8-AF5A-A92BDABA654F}"/>
              </a:ext>
            </a:extLst>
          </p:cNvPr>
          <p:cNvSpPr txBox="1"/>
          <p:nvPr/>
        </p:nvSpPr>
        <p:spPr>
          <a:xfrm>
            <a:off x="1524000" y="2314829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 </a:t>
            </a:r>
            <a:r>
              <a:rPr lang="de-DE" dirty="0" err="1"/>
              <a:t>Fannes</a:t>
            </a:r>
            <a:r>
              <a:rPr lang="de-DE" dirty="0"/>
              <a:t> et al. 92]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F7718B-B9EA-E2C2-0069-C30CF19F9634}"/>
              </a:ext>
            </a:extLst>
          </p:cNvPr>
          <p:cNvSpPr txBox="1"/>
          <p:nvPr/>
        </p:nvSpPr>
        <p:spPr>
          <a:xfrm>
            <a:off x="1523999" y="3804508"/>
            <a:ext cx="471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95599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E5002-FDC6-1DD5-6103-AC114D33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90581-13F7-EBA8-E626-B3E755E5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e-DE" dirty="0"/>
              <a:t>Matrix </a:t>
            </a:r>
            <a:r>
              <a:rPr lang="de-DE" dirty="0" err="1"/>
              <a:t>Product</a:t>
            </a:r>
            <a:r>
              <a:rPr lang="de-DE" dirty="0"/>
              <a:t> States (MPS)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Isometric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Tensor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Product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States (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isoTPS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pPr marL="514350" indent="-514350">
              <a:buAutoNum type="arabicPeriod"/>
            </a:pPr>
            <a:endParaRPr lang="de-DE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de-DE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Alternative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canonical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form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EDBDAF-644B-A1FD-01CA-5FFB88C65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760" y="1891919"/>
            <a:ext cx="4057650" cy="4229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53EC39C-F712-6700-6595-D0EA96178D3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305" y="2726405"/>
            <a:ext cx="1551623" cy="16116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58FCC0-08C4-EE1D-BC7D-A8E5BAAA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2782" y="4235804"/>
            <a:ext cx="1767840" cy="185928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8927B3F-A898-AFB8-AF5A-A92BDABA654F}"/>
              </a:ext>
            </a:extLst>
          </p:cNvPr>
          <p:cNvSpPr txBox="1"/>
          <p:nvPr/>
        </p:nvSpPr>
        <p:spPr>
          <a:xfrm>
            <a:off x="1524000" y="2314829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 </a:t>
            </a:r>
            <a:r>
              <a:rPr lang="de-DE" dirty="0" err="1"/>
              <a:t>Fannes</a:t>
            </a:r>
            <a:r>
              <a:rPr lang="de-DE" dirty="0"/>
              <a:t> et al. 92]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F7718B-B9EA-E2C2-0069-C30CF19F9634}"/>
              </a:ext>
            </a:extLst>
          </p:cNvPr>
          <p:cNvSpPr txBox="1"/>
          <p:nvPr/>
        </p:nvSpPr>
        <p:spPr>
          <a:xfrm>
            <a:off x="1524000" y="3804508"/>
            <a:ext cx="471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[M.P.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Zalatel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193979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D98901-925C-6CC8-9D6F-9239EA96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Tensor Networks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75B2CE-FF28-7462-A411-6F1956BF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Tensor </a:t>
            </a:r>
            <a:r>
              <a:rPr lang="de-DE" dirty="0" err="1"/>
              <a:t>of</a:t>
            </a:r>
            <a:r>
              <a:rPr lang="de-DE" dirty="0"/>
              <a:t> rank    :</a:t>
            </a:r>
          </a:p>
        </p:txBody>
      </p:sp>
      <p:pic>
        <p:nvPicPr>
          <p:cNvPr id="5" name="Grafik 4" descr="\documentclass{article}&#10;\usepackage{amsmath}&#10;\usepackage{mathtools}&#10;\pagestyle{empty}&#10;\begin{document}&#10;\begin{equation*}&#10;n&#10;\end{equation*}&#10;\end{document}" title="IguanaTex Bitmap Display">
            <a:extLst>
              <a:ext uri="{FF2B5EF4-FFF2-40B4-BE49-F238E27FC236}">
                <a16:creationId xmlns:a16="http://schemas.microsoft.com/office/drawing/2014/main" id="{8487A47E-014D-D4CE-BC92-7AB3CFAFE2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663" y="1994795"/>
            <a:ext cx="194133" cy="160000"/>
          </a:xfrm>
          <a:prstGeom prst="rect">
            <a:avLst/>
          </a:prstGeom>
        </p:spPr>
      </p:pic>
      <p:pic>
        <p:nvPicPr>
          <p:cNvPr id="7" name="Grafik 6" descr="\documentclass{article}&#10;\usepackage{amsmath}&#10;\usepackage{amssymb}&#10;\usepackage{mathtools}&#10;\pagestyle{empty}&#10;\begin{document}&#10;\begin{equation*}&#10;T \in \mathbb{C}^{\chi_1\times\chi_2\times\dots\times\chi_n}&#10;\end{equation*}&#10;\end{document}" title="IguanaTex Bitmap Display">
            <a:extLst>
              <a:ext uri="{FF2B5EF4-FFF2-40B4-BE49-F238E27FC236}">
                <a16:creationId xmlns:a16="http://schemas.microsoft.com/office/drawing/2014/main" id="{56A91656-38C1-3A45-C6E3-4CD053C9A98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55" y="1864662"/>
            <a:ext cx="2803200" cy="290133"/>
          </a:xfrm>
          <a:prstGeom prst="rect">
            <a:avLst/>
          </a:prstGeom>
        </p:spPr>
      </p:pic>
      <p:pic>
        <p:nvPicPr>
          <p:cNvPr id="9" name="Grafik 8" descr="\documentclass{article}&#10;\usepackage{amsmath}&#10;\usepackage{amssymb}&#10;\usepackage{mathtools}&#10;\pagestyle{empty}&#10;\begin{document}&#10;\begin{equation*}&#10;T_{i_1,i_2,\dots,i_n} \in \mathbb{C}&#10;\end{equation*}&#10;\end{document}" title="IguanaTex Bitmap Display">
            <a:extLst>
              <a:ext uri="{FF2B5EF4-FFF2-40B4-BE49-F238E27FC236}">
                <a16:creationId xmlns:a16="http://schemas.microsoft.com/office/drawing/2014/main" id="{47E99A52-A125-351C-1A27-9E0FA37780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55" y="2526344"/>
            <a:ext cx="2150400" cy="35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D66631F-0304-8674-78C1-64435ADE68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1900" y="4018139"/>
            <a:ext cx="2476500" cy="169068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0D447FB-10BB-9DEE-7EB0-C6967B671A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63601" y="4530108"/>
            <a:ext cx="1619250" cy="66675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70F09BC-DF4F-50A8-C89D-B09052BEB2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7688" y="4530108"/>
            <a:ext cx="26193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9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C03F2-58C9-CE80-32DE-156DFF24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Index </a:t>
            </a:r>
            <a:r>
              <a:rPr lang="de-DE" dirty="0" err="1"/>
              <a:t>Contractions</a:t>
            </a:r>
            <a:endParaRPr lang="de-DE" dirty="0"/>
          </a:p>
        </p:txBody>
      </p:sp>
      <p:pic>
        <p:nvPicPr>
          <p:cNvPr id="9" name="Grafik 8" descr="\documentclass{article}&#10;\usepackage{amsmath}&#10;\usepackage{mathtools}&#10;\pagestyle{empty}&#10;\begin{document}&#10;\begin{equation*}&#10;c = \sum_{\alpha=1}^{\chi}A_\alpha B_\alpha&#10;\end{equation*}&#10;\end{document}" title="IguanaTex Bitmap Display">
            <a:extLst>
              <a:ext uri="{FF2B5EF4-FFF2-40B4-BE49-F238E27FC236}">
                <a16:creationId xmlns:a16="http://schemas.microsoft.com/office/drawing/2014/main" id="{DF243409-B78D-7BDF-36AD-AA782AD30C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72" y="2102397"/>
            <a:ext cx="2120533" cy="983467"/>
          </a:xfrm>
          <a:prstGeom prst="rect">
            <a:avLst/>
          </a:prstGeom>
        </p:spPr>
      </p:pic>
      <p:pic>
        <p:nvPicPr>
          <p:cNvPr id="5" name="Grafik 4" descr="\documentclass{article}&#10;\usepackage{amsmath}&#10;\usepackage{mathtools}&#10;\pagestyle{empty}&#10;\begin{document}&#10;\begin{equation*}&#10;C_{ij} = \sum_{\alpha=1}^{\chi} A_{i\alpha} B_{\alpha j}&#10;\end{equation*}&#10;\end{document}" title="IguanaTex Bitmap Display">
            <a:extLst>
              <a:ext uri="{FF2B5EF4-FFF2-40B4-BE49-F238E27FC236}">
                <a16:creationId xmlns:a16="http://schemas.microsoft.com/office/drawing/2014/main" id="{119A52FA-105E-0389-FECC-9B4A1B75B21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73" y="4170962"/>
            <a:ext cx="2690511" cy="985482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5AB176-0604-B321-6EEA-824B6C41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Scalar </a:t>
            </a:r>
            <a:r>
              <a:rPr lang="de-DE" dirty="0" err="1"/>
              <a:t>product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Matrix </a:t>
            </a:r>
            <a:r>
              <a:rPr lang="de-DE" dirty="0" err="1"/>
              <a:t>product</a:t>
            </a:r>
            <a:r>
              <a:rPr lang="de-DE" dirty="0"/>
              <a:t>: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81B88B0-0BFE-9DCA-0853-384F8C40F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2712" y="4269788"/>
            <a:ext cx="3762375" cy="78581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D243E39-765C-79B3-6188-7DD7BF4202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9492" y="2195305"/>
            <a:ext cx="1928813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1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D60FB-ECF1-FC43-9267-029A8729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Matrix </a:t>
            </a:r>
            <a:r>
              <a:rPr lang="de-DE" dirty="0" err="1"/>
              <a:t>Product</a:t>
            </a:r>
            <a:r>
              <a:rPr lang="de-DE" dirty="0"/>
              <a:t> States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38ED7A3-1230-BA90-27A0-CA0894E9E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8972"/>
            <a:ext cx="10515600" cy="4351336"/>
          </a:xfrm>
        </p:spPr>
        <p:txBody>
          <a:bodyPr>
            <a:normAutofit lnSpcReduction="10000"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:</a:t>
            </a:r>
          </a:p>
          <a:p>
            <a:r>
              <a:rPr lang="de-DE" dirty="0" err="1"/>
              <a:t>Represents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law</a:t>
            </a:r>
            <a:r>
              <a:rPr lang="de-DE" dirty="0"/>
              <a:t> </a:t>
            </a:r>
            <a:r>
              <a:rPr lang="de-DE" dirty="0" err="1"/>
              <a:t>states</a:t>
            </a:r>
            <a:endParaRPr lang="de-DE" dirty="0"/>
          </a:p>
        </p:txBody>
      </p:sp>
      <p:pic>
        <p:nvPicPr>
          <p:cNvPr id="11" name="Grafik 10" descr="\documentclass{article}&#10;\usepackage{amsmath}&#10;\usepackage{mathtools}&#10;\pagestyle{empty}&#10;\begin{document}&#10;\begin{equation*}&#10; d^N \rightarrow N\chi^2d&#10;\end{equation*}&#10;\end{document}" title="IguanaTex Bitmap Display">
            <a:extLst>
              <a:ext uri="{FF2B5EF4-FFF2-40B4-BE49-F238E27FC236}">
                <a16:creationId xmlns:a16="http://schemas.microsoft.com/office/drawing/2014/main" id="{88D40CEA-F67D-BBFC-BA43-761554EDDD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886" y="5080257"/>
            <a:ext cx="1879467" cy="388267"/>
          </a:xfrm>
          <a:prstGeom prst="rect">
            <a:avLst/>
          </a:prstGeom>
        </p:spPr>
      </p:pic>
      <p:pic>
        <p:nvPicPr>
          <p:cNvPr id="3" name="Grafik 2" descr="\documentclass{article}&#10;\usepackage{amsmath}&#10;\usepackage{mathtools}&#10;\usepackage{braket}&#10;\pagestyle{empty}&#10;\begin{document}&#10;\begin{equation*}&#10;\ket{\Psi} = \sum_{i_1,i_2,\dots,i_N=1}^{d}\Psi_{i_1,i_2,\dots,i_N} \ket{i_1} \otimes \ket{i_2} \otimes \cdots \otimes \ket{i_N} &#10;\end{equation*}&#10;\end{document}" title="IguanaTex Bitmap Display">
            <a:extLst>
              <a:ext uri="{FF2B5EF4-FFF2-40B4-BE49-F238E27FC236}">
                <a16:creationId xmlns:a16="http://schemas.microsoft.com/office/drawing/2014/main" id="{54EDC218-FE8A-8815-C3D6-E23E513C41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32" y="1644045"/>
            <a:ext cx="7666040" cy="108218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49C3D6B-FBF9-5859-6543-5CE0F60DA1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703" y="2914418"/>
            <a:ext cx="9786938" cy="1905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B55960E-AAB4-A353-A228-338754A71C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703" y="2916000"/>
            <a:ext cx="9786938" cy="1905000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16EC715-FB46-8E0F-4B5D-742A277FF1A4}"/>
              </a:ext>
            </a:extLst>
          </p:cNvPr>
          <p:cNvCxnSpPr/>
          <p:nvPr/>
        </p:nvCxnSpPr>
        <p:spPr>
          <a:xfrm flipH="1" flipV="1">
            <a:off x="9784080" y="3912669"/>
            <a:ext cx="312821" cy="1458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chi&#10;\end{equation*}&#10;\end{document}" title="IguanaTex Bitmap Display">
            <a:extLst>
              <a:ext uri="{FF2B5EF4-FFF2-40B4-BE49-F238E27FC236}">
                <a16:creationId xmlns:a16="http://schemas.microsoft.com/office/drawing/2014/main" id="{145CED8D-AEA6-2A6C-8FCD-73A70168DC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634" y="5542335"/>
            <a:ext cx="200533" cy="22826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D370ABC-A8A2-FA2C-0857-4436767324BC}"/>
              </a:ext>
            </a:extLst>
          </p:cNvPr>
          <p:cNvSpPr txBox="1"/>
          <p:nvPr/>
        </p:nvSpPr>
        <p:spPr>
          <a:xfrm>
            <a:off x="1110113" y="6161643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 </a:t>
            </a:r>
            <a:r>
              <a:rPr lang="de-DE" dirty="0" err="1"/>
              <a:t>Fannes</a:t>
            </a:r>
            <a:r>
              <a:rPr lang="de-DE" dirty="0"/>
              <a:t> et al. 92]</a:t>
            </a:r>
          </a:p>
        </p:txBody>
      </p:sp>
    </p:spTree>
    <p:extLst>
      <p:ext uri="{BB962C8B-B14F-4D97-AF65-F5344CB8AC3E}">
        <p14:creationId xmlns:p14="http://schemas.microsoft.com/office/powerpoint/2010/main" val="303467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99C1D-A954-053D-B79E-328D8ADE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Isometries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393A70-380A-B126-BA31-365795615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Isometry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 err="1"/>
              <a:t>Isometry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: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 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 </a:t>
            </a:r>
          </a:p>
          <a:p>
            <a:pPr lvl="1"/>
            <a:endParaRPr lang="de-DE" dirty="0"/>
          </a:p>
        </p:txBody>
      </p:sp>
      <p:pic>
        <p:nvPicPr>
          <p:cNvPr id="4" name="Grafik 3" descr="\documentclass{article}&#10;\usepackage{amsmath}&#10;\usepackage{amssymb}&#10;\usepackage{mathtools}&#10;\pagestyle{empty}&#10;\begin{document}&#10;\begin{equation*}&#10;W \in \mathbb{C}^{n\times m}, \,\, n\ge m&#10;\end{equation*}&#10;\end{document}" title="IguanaTex Bitmap Display">
            <a:extLst>
              <a:ext uri="{FF2B5EF4-FFF2-40B4-BE49-F238E27FC236}">
                <a16:creationId xmlns:a16="http://schemas.microsoft.com/office/drawing/2014/main" id="{500410FE-9899-58FD-E562-DB84201202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733" y="1885857"/>
            <a:ext cx="2980267" cy="343467"/>
          </a:xfrm>
          <a:prstGeom prst="rect">
            <a:avLst/>
          </a:prstGeom>
        </p:spPr>
      </p:pic>
      <p:pic>
        <p:nvPicPr>
          <p:cNvPr id="5" name="Grafik 4" descr="\documentclass{article}&#10;\usepackage{amsmath}&#10;\usepackage{mathtools}&#10;\DeclareMathAlphabet{\mathbbb}{U}{bbold}{m}{n}&#10;\newcommand{\id}{\mathbbb{1}}&#10;\pagestyle{empty}&#10;\begin{document}&#10;\begin{equation*}&#10;W^\dagger W = \id&#10;\end{equation*}&#10;\end{document}" title="IguanaTex Bitmap Display">
            <a:extLst>
              <a:ext uri="{FF2B5EF4-FFF2-40B4-BE49-F238E27FC236}">
                <a16:creationId xmlns:a16="http://schemas.microsoft.com/office/drawing/2014/main" id="{449E5824-3DB0-7632-F617-31442C568E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428" y="3670628"/>
            <a:ext cx="1546667" cy="330667"/>
          </a:xfrm>
          <a:prstGeom prst="rect">
            <a:avLst/>
          </a:prstGeom>
        </p:spPr>
      </p:pic>
      <p:pic>
        <p:nvPicPr>
          <p:cNvPr id="11" name="Grafik 10" descr="\documentclass{article}&#10;\usepackage{amsmath}&#10;\usepackage{amssymb}&#10;\usepackage{mathtools}&#10;\pagestyle{empty}&#10;\begin{document}&#10;\begin{equation*}&#10;WW^\dagger = \mathbb{P}, \quad \mathbb{P}^2 = \mathbb{P}&#10;\end{equation*}&#10;\end{document}" title="IguanaTex Bitmap Display">
            <a:extLst>
              <a:ext uri="{FF2B5EF4-FFF2-40B4-BE49-F238E27FC236}">
                <a16:creationId xmlns:a16="http://schemas.microsoft.com/office/drawing/2014/main" id="{FDACA034-CCB3-FE20-7612-72EAA29BE2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560" y="4840957"/>
            <a:ext cx="3159069" cy="3911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6A77D2-113D-025C-F57D-AFF7DF2DE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32630" y="2823176"/>
            <a:ext cx="3293745" cy="146589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89A23AF-C057-42C3-95C0-0C26369105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32630" y="4801295"/>
            <a:ext cx="2388870" cy="146589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63ED5D6-BF7B-F221-B970-47DEA6DAA3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5139" y="1804225"/>
            <a:ext cx="1248728" cy="5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6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7150C-4A42-BE1B-06E7-5FF3D7C1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D56FB45-A3B4-47E5-6009-6C1657994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6928" y="1804278"/>
            <a:ext cx="8018145" cy="173069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31E728A-9A4A-6A30-3639-600B4E778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2096" y="3648559"/>
            <a:ext cx="3373755" cy="276034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18269A-55E1-9E9E-5655-FD08AEA6ED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6149" y="3648559"/>
            <a:ext cx="3527107" cy="276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6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1826D-43AB-B308-E29A-77DD5D68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Expectation</a:t>
            </a:r>
            <a:r>
              <a:rPr lang="de-DE" dirty="0"/>
              <a:t> Values</a:t>
            </a:r>
          </a:p>
        </p:txBody>
      </p:sp>
      <p:pic>
        <p:nvPicPr>
          <p:cNvPr id="11" name="Grafik 10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braket{\Psi|\hat{O}_n|\Psi} =&#10;\end{equation*}&#10;\end{document}" title="IguanaTex Bitmap Display">
            <a:extLst>
              <a:ext uri="{FF2B5EF4-FFF2-40B4-BE49-F238E27FC236}">
                <a16:creationId xmlns:a16="http://schemas.microsoft.com/office/drawing/2014/main" id="{E5D64124-0D85-72F1-D1E0-DF60E7607B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94" y="2078298"/>
            <a:ext cx="1804144" cy="4265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9388F9A-AE53-7FC5-9C9A-44240C859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8313" y="3148013"/>
            <a:ext cx="8715375" cy="300037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AC37413-CE5C-22D7-FCA4-84E5AB177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8781" y="3148013"/>
            <a:ext cx="8834438" cy="300037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2932D68-2942-8B52-711E-D99F54667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38313" y="3148013"/>
            <a:ext cx="8715375" cy="300037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3E2E2F2-481F-0767-4138-8B375E4F41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38313" y="3148013"/>
            <a:ext cx="8715375" cy="300037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580761B-F26E-E79E-1073-18B09537B5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38313" y="3148013"/>
            <a:ext cx="87153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1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F5702-FD71-3E9F-0918-7BAC050A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Evolving</a:t>
            </a:r>
            <a:r>
              <a:rPr lang="de-DE" dirty="0"/>
              <a:t> Block </a:t>
            </a:r>
            <a:r>
              <a:rPr lang="de-DE" dirty="0" err="1"/>
              <a:t>Decimation</a:t>
            </a:r>
            <a:r>
              <a:rPr lang="de-DE" dirty="0"/>
              <a:t> (TEBD)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2192E2-226B-80D0-B4DA-B96784C7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Schrödinger </a:t>
            </a:r>
            <a:r>
              <a:rPr lang="de-DE" dirty="0" err="1"/>
              <a:t>equation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 err="1"/>
              <a:t>Hamiltonian</a:t>
            </a:r>
            <a:endParaRPr lang="de-DE" dirty="0"/>
          </a:p>
          <a:p>
            <a:endParaRPr lang="de-DE" dirty="0"/>
          </a:p>
          <a:p>
            <a:r>
              <a:rPr lang="de-DE" dirty="0"/>
              <a:t>Suzuki-</a:t>
            </a:r>
            <a:r>
              <a:rPr lang="de-DE" dirty="0" err="1"/>
              <a:t>Trotter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r>
              <a:rPr lang="de-DE" dirty="0"/>
              <a:t>:</a:t>
            </a:r>
          </a:p>
        </p:txBody>
      </p:sp>
      <p:pic>
        <p:nvPicPr>
          <p:cNvPr id="4" name="Grafik 3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ket{\Psi(\Delta t)} = \hat{U}\left(\Delta t\right) \ket{\Psi} = e^{-i\Delta t\hat{H}} \ket{\Psi}&#10;\end{equation*}&#10;\end{document}" title="IguanaTex Bitmap Display">
            <a:extLst>
              <a:ext uri="{FF2B5EF4-FFF2-40B4-BE49-F238E27FC236}">
                <a16:creationId xmlns:a16="http://schemas.microsoft.com/office/drawing/2014/main" id="{25C571F9-4B52-01B0-A6EC-8CF662294F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59" y="1825627"/>
            <a:ext cx="5348267" cy="471467"/>
          </a:xfrm>
          <a:prstGeom prst="rect">
            <a:avLst/>
          </a:prstGeom>
        </p:spPr>
      </p:pic>
      <p:pic>
        <p:nvPicPr>
          <p:cNvPr id="5" name="Grafik 4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hat{H} = \sum_{j \text{ even}}\hat{h}^{[j, j+1]} + \sum_{j \text{ odd}}\hat{h}^{[j, j+1]} \eqqcolon \hat{H}_\text{even} + \hat{H}_\text{odd}&#10;\end{equation*}&#10;\end{document}" title="IguanaTex Bitmap Display">
            <a:extLst>
              <a:ext uri="{FF2B5EF4-FFF2-40B4-BE49-F238E27FC236}">
                <a16:creationId xmlns:a16="http://schemas.microsoft.com/office/drawing/2014/main" id="{D6AB4F6D-28DA-7D3A-7B2A-AAC3D73830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984" y="2851941"/>
            <a:ext cx="7528533" cy="817067"/>
          </a:xfrm>
          <a:prstGeom prst="rect">
            <a:avLst/>
          </a:prstGeom>
        </p:spPr>
      </p:pic>
      <p:pic>
        <p:nvPicPr>
          <p:cNvPr id="10" name="Grafik 9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hat{U}(\Delta t) = e^{-i\Delta t\left(\hat{H}_\text{even} + \hat{H}_\text{odd}\right)} = e^{-i\Delta t\hat{H}_\text{even}}e^{-i\Delta t\hat{H}_\text{odd}} + \mathcal{O}\left(\Delta t^2\right)&#10;\end{equation*}&#10;\end{document}" title="IguanaTex Bitmap Display">
            <a:extLst>
              <a:ext uri="{FF2B5EF4-FFF2-40B4-BE49-F238E27FC236}">
                <a16:creationId xmlns:a16="http://schemas.microsoft.com/office/drawing/2014/main" id="{3715E4D7-D31F-6155-1EB9-5AE7FBDA75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609" y="4524938"/>
            <a:ext cx="9283130" cy="517716"/>
          </a:xfrm>
          <a:prstGeom prst="rect">
            <a:avLst/>
          </a:prstGeom>
        </p:spPr>
      </p:pic>
      <p:pic>
        <p:nvPicPr>
          <p:cNvPr id="22" name="Grafik 21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e^{-i\Delta t\hat{H}_\text{even}} = \prod_{j \text{ even}} e^{-i\Delta t \hat{h}^{[j, j+1]}} = \prod_{j \text{ even}} \hat{U}^{[j,j+1]}(\Delta t)&#10;\end{equation*}&#10;\end{document}" title="IguanaTex Bitmap Display">
            <a:extLst>
              <a:ext uri="{FF2B5EF4-FFF2-40B4-BE49-F238E27FC236}">
                <a16:creationId xmlns:a16="http://schemas.microsoft.com/office/drawing/2014/main" id="{B74AAC88-D7FA-52E2-13CC-6084967EE1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609" y="5787790"/>
            <a:ext cx="7747086" cy="8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6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C97D5-D59C-404A-7EA1-971B9188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Evolving</a:t>
            </a:r>
            <a:r>
              <a:rPr lang="de-DE" dirty="0"/>
              <a:t> Block </a:t>
            </a:r>
            <a:r>
              <a:rPr lang="de-DE" dirty="0" err="1"/>
              <a:t>Decimation</a:t>
            </a:r>
            <a:r>
              <a:rPr lang="de-DE" dirty="0"/>
              <a:t> (TEBD)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7C6431F-3F4D-67FA-7DBC-446C78E39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719" y="1866344"/>
            <a:ext cx="9834563" cy="3738563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5C3F547-E60B-7558-AFCE-754372E49538}"/>
              </a:ext>
            </a:extLst>
          </p:cNvPr>
          <p:cNvSpPr txBox="1"/>
          <p:nvPr/>
        </p:nvSpPr>
        <p:spPr>
          <a:xfrm>
            <a:off x="1110113" y="6161643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[G. Vidal, 2004]</a:t>
            </a:r>
          </a:p>
        </p:txBody>
      </p:sp>
    </p:spTree>
    <p:extLst>
      <p:ext uri="{BB962C8B-B14F-4D97-AF65-F5344CB8AC3E}">
        <p14:creationId xmlns:p14="http://schemas.microsoft.com/office/powerpoint/2010/main" val="926451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8E65A-15B7-A57C-688A-0E178CB5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Evolving</a:t>
            </a:r>
            <a:r>
              <a:rPr lang="de-DE" dirty="0"/>
              <a:t> Block </a:t>
            </a:r>
            <a:r>
              <a:rPr lang="de-DE" dirty="0" err="1"/>
              <a:t>Decimation</a:t>
            </a:r>
            <a:r>
              <a:rPr lang="de-DE" dirty="0"/>
              <a:t> (TEBD)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94947CD-4D1B-7007-6941-A26FA9124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5" y="2579688"/>
            <a:ext cx="11144250" cy="271462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F6D44D7-853D-5072-0056-1E465250C3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75" y="2579688"/>
            <a:ext cx="11144250" cy="271462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3924E11-7C98-7333-2EFE-C0DAA5A1A0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875" y="2579688"/>
            <a:ext cx="11144250" cy="271462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5BEFB24-5633-DB12-6CC8-EA125BA00FDE}"/>
              </a:ext>
            </a:extLst>
          </p:cNvPr>
          <p:cNvSpPr txBox="1"/>
          <p:nvPr/>
        </p:nvSpPr>
        <p:spPr>
          <a:xfrm>
            <a:off x="1110113" y="6161643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[G. Vidal, 2004]</a:t>
            </a:r>
          </a:p>
        </p:txBody>
      </p:sp>
    </p:spTree>
    <p:extLst>
      <p:ext uri="{BB962C8B-B14F-4D97-AF65-F5344CB8AC3E}">
        <p14:creationId xmlns:p14="http://schemas.microsoft.com/office/powerpoint/2010/main" val="245519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E5002-FDC6-1DD5-6103-AC114D33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90581-13F7-EBA8-E626-B3E755E5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Matrix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Product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States (MPS)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Isometric</a:t>
            </a:r>
            <a:r>
              <a:rPr lang="de-DE" dirty="0"/>
              <a:t> Tensor </a:t>
            </a:r>
            <a:r>
              <a:rPr lang="de-DE" dirty="0" err="1"/>
              <a:t>Product</a:t>
            </a:r>
            <a:r>
              <a:rPr lang="de-DE" dirty="0"/>
              <a:t> States (</a:t>
            </a:r>
            <a:r>
              <a:rPr lang="de-DE" dirty="0" err="1"/>
              <a:t>isoTPS</a:t>
            </a:r>
            <a:r>
              <a:rPr lang="de-DE" dirty="0"/>
              <a:t>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Alternative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canonical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form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EDBDAF-644B-A1FD-01CA-5FFB88C6593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760" y="1891919"/>
            <a:ext cx="4057650" cy="4229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53EC39C-F712-6700-6595-D0EA96178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305" y="2726405"/>
            <a:ext cx="1551623" cy="16116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58FCC0-08C4-EE1D-BC7D-A8E5BAAA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2782" y="4235804"/>
            <a:ext cx="1767840" cy="185928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8927B3F-A898-AFB8-AF5A-A92BDABA654F}"/>
              </a:ext>
            </a:extLst>
          </p:cNvPr>
          <p:cNvSpPr txBox="1"/>
          <p:nvPr/>
        </p:nvSpPr>
        <p:spPr>
          <a:xfrm>
            <a:off x="1524000" y="2314829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[M.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Fannes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et al. 92]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F7718B-B9EA-E2C2-0069-C30CF19F9634}"/>
              </a:ext>
            </a:extLst>
          </p:cNvPr>
          <p:cNvSpPr txBox="1"/>
          <p:nvPr/>
        </p:nvSpPr>
        <p:spPr>
          <a:xfrm>
            <a:off x="1523999" y="3804508"/>
            <a:ext cx="471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106613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7908C-2260-2BF8-C7BF-AFC0856F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Projected</a:t>
            </a:r>
            <a:r>
              <a:rPr lang="de-DE" dirty="0"/>
              <a:t> </a:t>
            </a:r>
            <a:r>
              <a:rPr lang="de-DE" dirty="0" err="1"/>
              <a:t>Entangled</a:t>
            </a:r>
            <a:r>
              <a:rPr lang="de-DE" dirty="0"/>
              <a:t> Pair States (PEPS)</a:t>
            </a:r>
          </a:p>
        </p:txBody>
      </p:sp>
      <p:pic>
        <p:nvPicPr>
          <p:cNvPr id="5" name="Grafik 4" descr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Psi_{i_1,i_2,\cdots,i_N} \coloneqq \mathcal{C}\left(T^{[1],i_1}, T^{[2],i_2}, \dots, T^{[N],i_N}\right)&#10;\end{equation*}&#10;\end{document}" title="IguanaTex Bitmap Display">
            <a:extLst>
              <a:ext uri="{FF2B5EF4-FFF2-40B4-BE49-F238E27FC236}">
                <a16:creationId xmlns:a16="http://schemas.microsoft.com/office/drawing/2014/main" id="{F534D0F7-63B0-6E42-B543-308DB07DB8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533" y="5675229"/>
            <a:ext cx="6638933" cy="63786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305551-768F-95E4-EFC8-E38D2BA46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1975" y="1638300"/>
            <a:ext cx="3448050" cy="3581400"/>
          </a:xfrm>
          <a:prstGeom prst="rect">
            <a:avLst/>
          </a:prstGeom>
        </p:spPr>
      </p:pic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D&#10;\end{equation*}&#10;\end{document}" title="IguanaTex Bitmap Display">
            <a:extLst>
              <a:ext uri="{FF2B5EF4-FFF2-40B4-BE49-F238E27FC236}">
                <a16:creationId xmlns:a16="http://schemas.microsoft.com/office/drawing/2014/main" id="{9CEB82BF-0176-51CF-6BF4-B9309AFFBE0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294" y="2621102"/>
            <a:ext cx="273067" cy="241067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E9DE503-47A4-198F-89F7-1D3D02E09F25}"/>
              </a:ext>
            </a:extLst>
          </p:cNvPr>
          <p:cNvCxnSpPr/>
          <p:nvPr/>
        </p:nvCxnSpPr>
        <p:spPr>
          <a:xfrm>
            <a:off x="3301465" y="2829827"/>
            <a:ext cx="1179095" cy="216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13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DADBD-B115-71F1-534F-9766329A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Isometric</a:t>
            </a:r>
            <a:r>
              <a:rPr lang="de-DE" dirty="0"/>
              <a:t> Tensor </a:t>
            </a:r>
            <a:r>
              <a:rPr lang="de-DE" dirty="0" err="1"/>
              <a:t>Product</a:t>
            </a:r>
            <a:r>
              <a:rPr lang="de-DE" dirty="0"/>
              <a:t> State</a:t>
            </a:r>
          </a:p>
        </p:txBody>
      </p:sp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1E0AAC95-9D77-3934-F0D6-2E6D4656C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2051" y="1638300"/>
            <a:ext cx="3638550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BB84CB9-B0AF-A13B-13D1-D42190144B7A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2006448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D59F9-49E0-7F94-CDC7-59FE1181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Moses-Move (MM)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4C7883B-6E55-183F-139D-41C11CBD6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3025" y="1821600"/>
            <a:ext cx="9505950" cy="41148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6F15A18-3802-00F1-7875-E9D421284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2550" y="1821600"/>
            <a:ext cx="9486900" cy="41148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3ECD3B2-1EDD-5A64-04F5-853EDC9D4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2550" y="1821600"/>
            <a:ext cx="9486900" cy="41148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917072C-4943-E734-9B3F-2C94142B5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2550" y="1821600"/>
            <a:ext cx="9486900" cy="41148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F1897BC-5C2B-E24F-A785-0C8F2B77C6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2550" y="1821600"/>
            <a:ext cx="9486900" cy="41148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DE1E1AE-2E96-156E-38CD-542688A9B709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266389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81C63-647D-05E2-F4DA-F8975790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Moses-Move (MM)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3582D3-8016-A9BF-D8E5-04A79AC12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7900" y="1819902"/>
            <a:ext cx="7696200" cy="41148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26A6E35-8598-C769-EAF3-A8C206D7E0D1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3313222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219F0-C2E3-7074-3C33-312BCCBF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Algorithms</a:t>
            </a:r>
            <a:r>
              <a:rPr lang="de-DE" dirty="0"/>
              <a:t> on </a:t>
            </a:r>
            <a:r>
              <a:rPr lang="de-DE" dirty="0" err="1"/>
              <a:t>isoTPS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189AD-B9FA-7C5A-1167-F032E6C2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TEBD:</a:t>
            </a:r>
          </a:p>
          <a:p>
            <a:endParaRPr lang="de-DE" dirty="0"/>
          </a:p>
          <a:p>
            <a:r>
              <a:rPr lang="de-DE" dirty="0"/>
              <a:t>DMRG:</a:t>
            </a:r>
          </a:p>
          <a:p>
            <a:pPr lvl="1"/>
            <a:r>
              <a:rPr lang="de-DE" dirty="0" err="1"/>
              <a:t>generalized</a:t>
            </a:r>
            <a:r>
              <a:rPr lang="de-DE" dirty="0"/>
              <a:t> </a:t>
            </a:r>
            <a:r>
              <a:rPr lang="de-DE" dirty="0" err="1"/>
              <a:t>eigenvalue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-&gt;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eigenvalue</a:t>
            </a:r>
            <a:r>
              <a:rPr lang="de-DE" dirty="0"/>
              <a:t> </a:t>
            </a:r>
            <a:r>
              <a:rPr lang="de-DE" dirty="0" err="1"/>
              <a:t>problem</a:t>
            </a:r>
            <a:endParaRPr lang="de-DE" dirty="0"/>
          </a:p>
        </p:txBody>
      </p:sp>
      <p:pic>
        <p:nvPicPr>
          <p:cNvPr id="6" name="Grafik 5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7)&#10;\end{equation*}&#10;\end{document}" title="IguanaTex Bitmap Display">
            <a:extLst>
              <a:ext uri="{FF2B5EF4-FFF2-40B4-BE49-F238E27FC236}">
                <a16:creationId xmlns:a16="http://schemas.microsoft.com/office/drawing/2014/main" id="{20151229-D081-C3B2-5BC7-AC176590F6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98" y="1849365"/>
            <a:ext cx="974933" cy="405333"/>
          </a:xfrm>
          <a:prstGeom prst="rect">
            <a:avLst/>
          </a:prstGeom>
        </p:spPr>
      </p:pic>
      <p:pic>
        <p:nvPicPr>
          <p:cNvPr id="11" name="Grafik 10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{12})&#10;\end{equation*}&#10;\end{document}" title="IguanaTex Bitmap Display">
            <a:extLst>
              <a:ext uri="{FF2B5EF4-FFF2-40B4-BE49-F238E27FC236}">
                <a16:creationId xmlns:a16="http://schemas.microsoft.com/office/drawing/2014/main" id="{6EBAEE95-F65A-8E3F-1A9D-F1666F19DE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97" y="2867157"/>
            <a:ext cx="1120668" cy="405252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8E5EB2E-E366-2CDE-8DDA-55E1ED39CB15}"/>
              </a:ext>
            </a:extLst>
          </p:cNvPr>
          <p:cNvSpPr txBox="1"/>
          <p:nvPr/>
        </p:nvSpPr>
        <p:spPr>
          <a:xfrm>
            <a:off x="4279004" y="1825627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F573A0-E9E5-CFD7-479F-E9AE7B75F72A}"/>
              </a:ext>
            </a:extLst>
          </p:cNvPr>
          <p:cNvSpPr txBox="1"/>
          <p:nvPr/>
        </p:nvSpPr>
        <p:spPr>
          <a:xfrm>
            <a:off x="4279004" y="2867157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</a:t>
            </a:r>
            <a:r>
              <a:rPr lang="de-DE" sz="1800" b="0" i="0" u="none" strike="noStrike" baseline="0" dirty="0">
                <a:latin typeface="CMR10"/>
              </a:rPr>
              <a:t>S.-H. Lin</a:t>
            </a:r>
            <a:r>
              <a:rPr lang="de-DE" dirty="0">
                <a:latin typeface="CMR10"/>
              </a:rPr>
              <a:t> M.P. </a:t>
            </a:r>
            <a:r>
              <a:rPr lang="de-DE" dirty="0" err="1">
                <a:latin typeface="CMR10"/>
              </a:rPr>
              <a:t>Zalatel</a:t>
            </a:r>
            <a:r>
              <a:rPr lang="de-DE" dirty="0">
                <a:latin typeface="CMR10"/>
              </a:rPr>
              <a:t>, F. Pollmann, 2022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5978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E5002-FDC6-1DD5-6103-AC114D33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90581-13F7-EBA8-E626-B3E755E5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Matrix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Product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States (MPS)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Isometric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Tensor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Product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States (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isoTPS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Alternative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EDBDAF-644B-A1FD-01CA-5FFB88C6593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760" y="1891919"/>
            <a:ext cx="4057650" cy="4229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53EC39C-F712-6700-6595-D0EA96178D3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305" y="2726405"/>
            <a:ext cx="1551623" cy="16116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58FCC0-08C4-EE1D-BC7D-A8E5BAAA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2782" y="4235804"/>
            <a:ext cx="1767840" cy="185928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8927B3F-A898-AFB8-AF5A-A92BDABA654F}"/>
              </a:ext>
            </a:extLst>
          </p:cNvPr>
          <p:cNvSpPr txBox="1"/>
          <p:nvPr/>
        </p:nvSpPr>
        <p:spPr>
          <a:xfrm>
            <a:off x="1524000" y="2314829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[M.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Fannes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 et al. 92]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F7718B-B9EA-E2C2-0069-C30CF19F9634}"/>
              </a:ext>
            </a:extLst>
          </p:cNvPr>
          <p:cNvSpPr txBox="1"/>
          <p:nvPr/>
        </p:nvSpPr>
        <p:spPr>
          <a:xfrm>
            <a:off x="1523999" y="3804508"/>
            <a:ext cx="471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[M.P. </a:t>
            </a:r>
            <a:r>
              <a:rPr lang="de-DE" dirty="0" err="1">
                <a:solidFill>
                  <a:schemeClr val="bg2">
                    <a:lumMod val="75000"/>
                  </a:schemeClr>
                </a:solidFill>
              </a:rPr>
              <a:t>Zalatel</a:t>
            </a:r>
            <a:r>
              <a:rPr lang="de-DE" dirty="0">
                <a:solidFill>
                  <a:schemeClr val="bg2">
                    <a:lumMod val="75000"/>
                  </a:schemeClr>
                </a:solidFill>
              </a:rPr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2108376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A96DD-D878-4C6A-CD85-6A2A2D69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Alternative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26DD823E-BEB5-10B8-9F5D-E5C49D22C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1690688"/>
            <a:ext cx="4343400" cy="4542473"/>
          </a:xfrm>
        </p:spPr>
      </p:pic>
      <p:pic>
        <p:nvPicPr>
          <p:cNvPr id="8" name="Grafik 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D&#10;\end{equation*}&#10;\end{document}" title="IguanaTex Bitmap Display">
            <a:extLst>
              <a:ext uri="{FF2B5EF4-FFF2-40B4-BE49-F238E27FC236}">
                <a16:creationId xmlns:a16="http://schemas.microsoft.com/office/drawing/2014/main" id="{570CD0EC-5F45-5AFF-02CA-5E5FD4E67E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64" y="2925645"/>
            <a:ext cx="273067" cy="241067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D59095F-C7EB-F670-E158-32A1737959A2}"/>
              </a:ext>
            </a:extLst>
          </p:cNvPr>
          <p:cNvCxnSpPr>
            <a:cxnSpLocks/>
          </p:cNvCxnSpPr>
          <p:nvPr/>
        </p:nvCxnSpPr>
        <p:spPr>
          <a:xfrm>
            <a:off x="3349592" y="3166712"/>
            <a:ext cx="1049955" cy="687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70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070855-F60C-8492-EB93-F79694E8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Moving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orthogonality</a:t>
            </a:r>
            <a:r>
              <a:rPr lang="de-DE" dirty="0"/>
              <a:t> </a:t>
            </a:r>
            <a:r>
              <a:rPr lang="de-DE" dirty="0" err="1"/>
              <a:t>hypersurface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C5A635F-C2C4-87FF-BA4A-C11339B1F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477E6B-3C28-7C0E-F2B3-7CF57774F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3D7EBED-F043-961B-33F0-6EE906F878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E18E292-8ABA-FFB2-255C-426E193036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6F0E271-FE74-FD16-FD56-E8CB83F0F5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6911CC1-51A7-AF23-481E-876E9826B5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19663" y="1692000"/>
            <a:ext cx="2352675" cy="44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0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9B691-B888-9697-020B-3CE823BD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Yang-Baxter (YB) Move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8B21D9-0287-DF25-E462-753CB87D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YB Error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A919E26-2001-74CC-F73C-7BC5480A7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1344" y="1980162"/>
            <a:ext cx="5929313" cy="2071688"/>
          </a:xfrm>
          <a:prstGeom prst="rect">
            <a:avLst/>
          </a:prstGeom>
        </p:spPr>
      </p:pic>
      <p:pic>
        <p:nvPicPr>
          <p:cNvPr id="10" name="Grafik 9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lVert\ket{\Psi}-\ket{\Psi^\prime}\rVert&#10;\end{equation*}&#10;\end{document}" title="IguanaTex Bitmap Display">
            <a:extLst>
              <a:ext uri="{FF2B5EF4-FFF2-40B4-BE49-F238E27FC236}">
                <a16:creationId xmlns:a16="http://schemas.microsoft.com/office/drawing/2014/main" id="{64D3ADD2-774D-EA21-1784-AAC7E0CB4E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895" y="4877840"/>
            <a:ext cx="1821075" cy="379461"/>
          </a:xfrm>
          <a:prstGeom prst="rect">
            <a:avLst/>
          </a:prstGeom>
        </p:spPr>
      </p:pic>
      <p:pic>
        <p:nvPicPr>
          <p:cNvPr id="14" name="Grafik 1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= \sqrt{2-2\Re\braket{\Psi^\prime|\Psi}}&#10;\end{equation*}&#10;\end{document}" title="IguanaTex Bitmap Display">
            <a:extLst>
              <a:ext uri="{FF2B5EF4-FFF2-40B4-BE49-F238E27FC236}">
                <a16:creationId xmlns:a16="http://schemas.microsoft.com/office/drawing/2014/main" id="{88668767-0386-7B18-31A2-B8B02563A44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15" y="4855303"/>
            <a:ext cx="3057067" cy="4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2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B07C1-D4CC-2801-2C4E-696C11B0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Yang-Baxter (YB) Move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7EFB9C6-DA3D-D37A-BA28-6B9DE91E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r>
              <a:rPr lang="de-DE" dirty="0" err="1"/>
              <a:t>Constrained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problem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Variational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updates</a:t>
            </a:r>
            <a:endParaRPr lang="de-DE" dirty="0"/>
          </a:p>
          <a:p>
            <a:pPr lvl="1"/>
            <a:r>
              <a:rPr lang="de-DE" dirty="0" err="1"/>
              <a:t>Tripartite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SVD + </a:t>
            </a:r>
            <a:r>
              <a:rPr lang="de-DE" dirty="0" err="1"/>
              <a:t>disentangling</a:t>
            </a:r>
            <a:endParaRPr lang="de-DE" dirty="0"/>
          </a:p>
          <a:p>
            <a:endParaRPr lang="de-DE" dirty="0"/>
          </a:p>
        </p:txBody>
      </p:sp>
      <p:pic>
        <p:nvPicPr>
          <p:cNvPr id="18" name="Grafik 1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 (T_\text{opt}^\prime, W_{1,\text{opt}}^\prime, W_{2,\text{opt}}^\prime) = \underset{T,W_1^\prime,W_2^\prime}{\argmax}\Re\braket{\Psi^\prime|\Psi}&#10;\end{equation*}&#10;\end{document}" title="IguanaTex Bitmap Display">
            <a:extLst>
              <a:ext uri="{FF2B5EF4-FFF2-40B4-BE49-F238E27FC236}">
                <a16:creationId xmlns:a16="http://schemas.microsoft.com/office/drawing/2014/main" id="{64BF3B08-7776-4DF0-72BA-157274EFE1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88" y="2636329"/>
            <a:ext cx="6323200" cy="674133"/>
          </a:xfrm>
          <a:prstGeom prst="rect">
            <a:avLst/>
          </a:prstGeom>
        </p:spPr>
      </p:pic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T^{\prime\dagger}T^\prime = \id, \quad W_1^{\prime\dagger}W_1^\prime = \id, \quad \left\lVert W_2^\prime \right\rVert_\text{F} = 1&#10;\end{equation*}&#10;\end{document}" title="IguanaTex Bitmap Display">
            <a:extLst>
              <a:ext uri="{FF2B5EF4-FFF2-40B4-BE49-F238E27FC236}">
                <a16:creationId xmlns:a16="http://schemas.microsoft.com/office/drawing/2014/main" id="{881B379C-F7E0-9BC2-27AB-067BE024C7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00" y="3505654"/>
            <a:ext cx="5971200" cy="45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2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1DACF-D09A-0CBF-6BB4-037794B6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YB-</a:t>
            </a:r>
            <a:r>
              <a:rPr lang="de-DE" dirty="0" err="1"/>
              <a:t>move</a:t>
            </a:r>
            <a:r>
              <a:rPr lang="de-DE" dirty="0"/>
              <a:t>: </a:t>
            </a:r>
            <a:r>
              <a:rPr lang="de-DE" dirty="0" err="1"/>
              <a:t>Variational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</p:txBody>
      </p:sp>
      <p:pic>
        <p:nvPicPr>
          <p:cNvPr id="7" name="Grafik 6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e\braket{\Psi^\prime|\Psi} = \Re&#10;\end{equation*}&#10;\end{document}" title="IguanaTex Bitmap Display">
            <a:extLst>
              <a:ext uri="{FF2B5EF4-FFF2-40B4-BE49-F238E27FC236}">
                <a16:creationId xmlns:a16="http://schemas.microsoft.com/office/drawing/2014/main" id="{36F6DB7E-6F93-59D9-54D6-A8E01D76D0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88" y="4464993"/>
            <a:ext cx="2370556" cy="378286"/>
          </a:xfrm>
          <a:prstGeom prst="rect">
            <a:avLst/>
          </a:prstGeom>
        </p:spPr>
      </p:pic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6CF5E15F-1955-006A-33BE-4B5BD836D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0905" y="2968211"/>
            <a:ext cx="3467100" cy="3371850"/>
          </a:xfrm>
        </p:spPr>
      </p:pic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 (T_\text{opt}^\prime, W_{1,\text{opt}}^\prime, W_{2,\text{opt}}^\prime) = \underset{T,W_1^\prime,W_2^\prime}{\argmax}\Re\braket{\Psi^\prime|\Psi}&#10;\end{equation*}&#10;\end{document}" title="IguanaTex Bitmap Display">
            <a:extLst>
              <a:ext uri="{FF2B5EF4-FFF2-40B4-BE49-F238E27FC236}">
                <a16:creationId xmlns:a16="http://schemas.microsoft.com/office/drawing/2014/main" id="{A77ABD6C-A0E7-9CDB-6AC0-3D84A09DB83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88" y="1811957"/>
            <a:ext cx="6323200" cy="6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8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9E18C-C2ED-19B8-EFD4-03448519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YB-</a:t>
            </a:r>
            <a:r>
              <a:rPr lang="de-DE" dirty="0" err="1"/>
              <a:t>move</a:t>
            </a:r>
            <a:r>
              <a:rPr lang="de-DE" dirty="0"/>
              <a:t>: </a:t>
            </a:r>
            <a:r>
              <a:rPr lang="de-DE" dirty="0" err="1"/>
              <a:t>Variational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7008A66-CB86-51F5-19EC-5F32732B5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3765" y="1690688"/>
            <a:ext cx="6692916" cy="4564224"/>
          </a:xfrm>
        </p:spPr>
      </p:pic>
    </p:spTree>
    <p:extLst>
      <p:ext uri="{BB962C8B-B14F-4D97-AF65-F5344CB8AC3E}">
        <p14:creationId xmlns:p14="http://schemas.microsoft.com/office/powerpoint/2010/main" val="3879327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32D0A-C835-A559-3128-E257F4D9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YB-</a:t>
            </a:r>
            <a:r>
              <a:rPr lang="de-DE" dirty="0" err="1"/>
              <a:t>move</a:t>
            </a:r>
            <a:r>
              <a:rPr lang="de-DE" dirty="0"/>
              <a:t>: </a:t>
            </a:r>
            <a:r>
              <a:rPr lang="de-DE" dirty="0" err="1"/>
              <a:t>Tripartite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4C9A881-22C3-C1E2-A389-FF545032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975" y="4167729"/>
            <a:ext cx="11068050" cy="1676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25BF86E-9129-7E55-BF7D-D78AC1B51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4975" y="2091008"/>
            <a:ext cx="8782050" cy="16764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F7ACFA8-D3D0-251D-8A92-B6062EC959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4975" y="2091008"/>
            <a:ext cx="8782050" cy="16764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8366197-94A6-EEB1-95A3-E07CB7FF2E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4975" y="2091008"/>
            <a:ext cx="8782050" cy="16764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AAE2948-E470-0DCE-FC22-A67CACFA21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1975" y="4167729"/>
            <a:ext cx="11068050" cy="16764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612BB9C6-201F-7B40-3ED2-CB1BC695B9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1975" y="4167729"/>
            <a:ext cx="11068050" cy="16764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5840FBE-42EC-9A90-A169-53154049B1ED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109377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Disentangling</a:t>
            </a:r>
            <a:r>
              <a:rPr lang="de-DE" dirty="0"/>
              <a:t> </a:t>
            </a:r>
            <a:r>
              <a:rPr lang="de-DE" dirty="0" err="1"/>
              <a:t>procedure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C1D2C38-9607-D18B-6BEC-1007FF5BA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8469" y="2449139"/>
            <a:ext cx="6215063" cy="3095625"/>
          </a:xfrm>
        </p:spPr>
      </p:pic>
    </p:spTree>
    <p:extLst>
      <p:ext uri="{BB962C8B-B14F-4D97-AF65-F5344CB8AC3E}">
        <p14:creationId xmlns:p14="http://schemas.microsoft.com/office/powerpoint/2010/main" val="1457783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Disentangling</a:t>
            </a:r>
            <a:r>
              <a:rPr lang="de-DE" dirty="0"/>
              <a:t> </a:t>
            </a:r>
            <a:r>
              <a:rPr lang="de-DE" dirty="0" err="1"/>
              <a:t>procedure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BB2F64-0B80-7190-0D0F-809795B1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Minimize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 err="1"/>
              <a:t>Rényi-entropy</a:t>
            </a:r>
            <a:endParaRPr lang="de-DE" i="1" dirty="0"/>
          </a:p>
          <a:p>
            <a:endParaRPr lang="de-DE" i="1" dirty="0"/>
          </a:p>
          <a:p>
            <a:endParaRPr lang="de-DE" i="1" dirty="0"/>
          </a:p>
          <a:p>
            <a:endParaRPr lang="de-DE" i="1" dirty="0"/>
          </a:p>
          <a:p>
            <a:endParaRPr lang="de-DE" i="1" dirty="0"/>
          </a:p>
          <a:p>
            <a:endParaRPr lang="de-DE" i="1" dirty="0"/>
          </a:p>
          <a:p>
            <a:r>
              <a:rPr lang="de-DE" dirty="0"/>
              <a:t>Bounds </a:t>
            </a:r>
            <a:r>
              <a:rPr lang="de-DE" dirty="0" err="1"/>
              <a:t>truncation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for</a:t>
            </a:r>
            <a:endParaRPr lang="de-DE" dirty="0"/>
          </a:p>
          <a:p>
            <a:r>
              <a:rPr lang="de-DE" dirty="0"/>
              <a:t>In </a:t>
            </a:r>
            <a:r>
              <a:rPr lang="de-DE" dirty="0" err="1"/>
              <a:t>practice</a:t>
            </a:r>
            <a:r>
              <a:rPr lang="de-DE" dirty="0"/>
              <a:t>: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also </a:t>
            </a:r>
            <a:r>
              <a:rPr lang="de-DE" dirty="0" err="1"/>
              <a:t>for</a:t>
            </a:r>
            <a:r>
              <a:rPr lang="de-DE" dirty="0"/>
              <a:t>  </a:t>
            </a:r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8" name="Grafik 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f_\text{Rényi}\left(U,\theta,\alpha\right) = \frac{1}{1-\alpha}\log\Tr\left(\rho^\alpha\right)&#10;\end{equation*}&#10;\end{document}" title="IguanaTex Bitmap Display">
            <a:extLst>
              <a:ext uri="{FF2B5EF4-FFF2-40B4-BE49-F238E27FC236}">
                <a16:creationId xmlns:a16="http://schemas.microsoft.com/office/drawing/2014/main" id="{5A173CC8-4869-2D7B-B104-B87EC83B07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72" y="2877730"/>
            <a:ext cx="5196980" cy="723916"/>
          </a:xfrm>
          <a:prstGeom prst="rect">
            <a:avLst/>
          </a:prstGeom>
        </p:spPr>
      </p:pic>
      <p:pic>
        <p:nvPicPr>
          <p:cNvPr id="10" name="Grafik 9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ho = \Tr_{(j, r)}(\ket{\tilde{\theta}}\bra{\tilde{\theta}})&#10;\end{equation*}&#10;\end{document}" title="IguanaTex Bitmap Display">
            <a:extLst>
              <a:ext uri="{FF2B5EF4-FFF2-40B4-BE49-F238E27FC236}">
                <a16:creationId xmlns:a16="http://schemas.microsoft.com/office/drawing/2014/main" id="{B1368E6E-D510-F779-446B-90FC4494EF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753" y="3836493"/>
            <a:ext cx="2713600" cy="45653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568048C-6EEC-029E-DF49-20051A1779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2015" y="2363396"/>
            <a:ext cx="2724150" cy="2476500"/>
          </a:xfrm>
          <a:prstGeom prst="rect">
            <a:avLst/>
          </a:prstGeom>
        </p:spPr>
      </p:pic>
      <p:pic>
        <p:nvPicPr>
          <p:cNvPr id="7" name="Grafik 6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\le 1&#10;\end{equation*}&#10;\end{document}" title="IguanaTex Bitmap Display">
            <a:extLst>
              <a:ext uri="{FF2B5EF4-FFF2-40B4-BE49-F238E27FC236}">
                <a16:creationId xmlns:a16="http://schemas.microsoft.com/office/drawing/2014/main" id="{9451C04F-66D8-9404-37D2-99EF1AEE59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799" y="4975073"/>
            <a:ext cx="836267" cy="283733"/>
          </a:xfrm>
          <a:prstGeom prst="rect">
            <a:avLst/>
          </a:prstGeom>
        </p:spPr>
      </p:pic>
      <p:pic>
        <p:nvPicPr>
          <p:cNvPr id="11" name="Grafik 10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&gt; 1&#10;\end{equation*}&#10;\end{document}" title="IguanaTex Bitmap Display">
            <a:extLst>
              <a:ext uri="{FF2B5EF4-FFF2-40B4-BE49-F238E27FC236}">
                <a16:creationId xmlns:a16="http://schemas.microsoft.com/office/drawing/2014/main" id="{92A583C4-1185-599B-E257-9F84006CAB2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066" y="5515019"/>
            <a:ext cx="836267" cy="2496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7E80AB6-7FC3-655A-D59F-CDC01D4A9FCD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[M.P. </a:t>
            </a:r>
            <a:r>
              <a:rPr lang="de-DE" dirty="0" err="1"/>
              <a:t>Zalatel</a:t>
            </a:r>
            <a:r>
              <a:rPr lang="de-DE" dirty="0"/>
              <a:t>, F. Pollmann, 2020]</a:t>
            </a:r>
          </a:p>
        </p:txBody>
      </p:sp>
    </p:spTree>
    <p:extLst>
      <p:ext uri="{BB962C8B-B14F-4D97-AF65-F5344CB8AC3E}">
        <p14:creationId xmlns:p14="http://schemas.microsoft.com/office/powerpoint/2010/main" val="35551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Renyi-2 </a:t>
            </a:r>
            <a:r>
              <a:rPr lang="de-DE" dirty="0" err="1"/>
              <a:t>disentangling</a:t>
            </a:r>
            <a:endParaRPr lang="de-DE" dirty="0"/>
          </a:p>
        </p:txBody>
      </p:sp>
      <p:pic>
        <p:nvPicPr>
          <p:cNvPr id="7" name="Grafik 6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f_\text{Rényi}\left(U,\theta,\alpha=2\right) = -\log\Tr\rho^2&#10;\end{equation*}&#10;\end{document}" title="IguanaTex Bitmap Display">
            <a:extLst>
              <a:ext uri="{FF2B5EF4-FFF2-40B4-BE49-F238E27FC236}">
                <a16:creationId xmlns:a16="http://schemas.microsoft.com/office/drawing/2014/main" id="{E1B7BDA7-7FBE-13B6-A8C3-AFA5F1E4EC9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76" y="2494002"/>
            <a:ext cx="4881067" cy="416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D0DDD3E-B259-1C3C-E735-F39B2237572A}"/>
              </a:ext>
            </a:extLst>
          </p:cNvPr>
          <p:cNvSpPr txBox="1"/>
          <p:nvPr/>
        </p:nvSpPr>
        <p:spPr>
          <a:xfrm>
            <a:off x="2310355" y="3339280"/>
            <a:ext cx="2709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maximize</a:t>
            </a:r>
            <a:endParaRPr lang="de-DE" sz="2800" dirty="0"/>
          </a:p>
        </p:txBody>
      </p:sp>
      <p:pic>
        <p:nvPicPr>
          <p:cNvPr id="10" name="Grafik 9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Tr\rho^2&#10;\end{equation*}&#10;\end{document}" title="IguanaTex Bitmap Display">
            <a:extLst>
              <a:ext uri="{FF2B5EF4-FFF2-40B4-BE49-F238E27FC236}">
                <a16:creationId xmlns:a16="http://schemas.microsoft.com/office/drawing/2014/main" id="{B4AEDD02-0C14-850E-0C9F-46B5623D629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869" y="3384243"/>
            <a:ext cx="723200" cy="388267"/>
          </a:xfrm>
          <a:prstGeom prst="rect">
            <a:avLst/>
          </a:prstGeom>
        </p:spPr>
      </p:pic>
      <p:pic>
        <p:nvPicPr>
          <p:cNvPr id="12" name="Grafik 11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ightarrow&#10;\end{equation*}&#10;\end{document}" title="IguanaTex Bitmap Display">
            <a:extLst>
              <a:ext uri="{FF2B5EF4-FFF2-40B4-BE49-F238E27FC236}">
                <a16:creationId xmlns:a16="http://schemas.microsoft.com/office/drawing/2014/main" id="{5D9738F3-C7CC-EC13-2311-6E939B92D2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99" y="3501690"/>
            <a:ext cx="315733" cy="198400"/>
          </a:xfrm>
          <a:prstGeom prst="rect">
            <a:avLst/>
          </a:prstGeom>
        </p:spPr>
      </p:pic>
      <p:pic>
        <p:nvPicPr>
          <p:cNvPr id="18" name="Grafik 1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&#10;\end{equation*}&#10;\end{document}" title="IguanaTex Bitmap Display">
            <a:extLst>
              <a:ext uri="{FF2B5EF4-FFF2-40B4-BE49-F238E27FC236}">
                <a16:creationId xmlns:a16="http://schemas.microsoft.com/office/drawing/2014/main" id="{8B453078-11A2-B201-97D6-339C90D105F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592" y="4408943"/>
            <a:ext cx="974933" cy="401067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682CD8-8523-3217-7428-91C32C51F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10725946" cy="4832519"/>
          </a:xfrm>
        </p:spPr>
        <p:txBody>
          <a:bodyPr>
            <a:norm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Evenbly</a:t>
            </a:r>
            <a:r>
              <a:rPr lang="de-DE" dirty="0"/>
              <a:t>-Vidal </a:t>
            </a:r>
            <a:r>
              <a:rPr lang="de-DE" dirty="0" err="1"/>
              <a:t>algorithm</a:t>
            </a:r>
            <a:r>
              <a:rPr lang="de-DE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887B1B-2E07-71FC-EF9C-C22F1C3DE2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96216" y="704850"/>
            <a:ext cx="2209800" cy="54483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15C7F3D-5765-9D31-FAEE-CB5B454D3078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[J. </a:t>
            </a:r>
            <a:r>
              <a:rPr lang="de-DE" sz="1800" b="0" i="0" u="none" strike="noStrike" baseline="0" dirty="0">
                <a:latin typeface="Times-Roman"/>
              </a:rPr>
              <a:t>Hauschild et al. 2018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987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Renyi-2 </a:t>
            </a:r>
            <a:r>
              <a:rPr lang="de-DE" dirty="0" err="1"/>
              <a:t>disentangling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F04F81-C5F2-8461-F9EF-FA8C0E698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1497" y="1505808"/>
            <a:ext cx="7053416" cy="498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Riemannian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BB2F64-0B80-7190-0D0F-809795B1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easy </a:t>
            </a:r>
            <a:r>
              <a:rPr lang="de-DE" dirty="0" err="1"/>
              <a:t>tensor</a:t>
            </a:r>
            <a:r>
              <a:rPr lang="de-DE" dirty="0"/>
              <a:t> network form </a:t>
            </a:r>
            <a:r>
              <a:rPr lang="de-DE" dirty="0" err="1"/>
              <a:t>for</a:t>
            </a:r>
            <a:endParaRPr lang="de-DE" dirty="0"/>
          </a:p>
          <a:p>
            <a:r>
              <a:rPr lang="de-DE" dirty="0"/>
              <a:t>Use </a:t>
            </a:r>
            <a:r>
              <a:rPr lang="de-DE" dirty="0" err="1"/>
              <a:t>Riemannian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0C01EB0-9FB6-0072-38DC-AA622DB02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7050" y="3201031"/>
            <a:ext cx="6057900" cy="32918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43A82C4-7447-598C-3203-083F214D04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7050" y="3212461"/>
            <a:ext cx="6057900" cy="32689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BD72BE3-43BE-E2B9-C162-A7FD482CA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67050" y="3212461"/>
            <a:ext cx="6057900" cy="326898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3CDC2E8-DEE5-0A89-9849-4D7A74909F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7050" y="3201031"/>
            <a:ext cx="6057900" cy="3291840"/>
          </a:xfrm>
          <a:prstGeom prst="rect">
            <a:avLst/>
          </a:prstGeom>
        </p:spPr>
      </p:pic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\neq 2&#10;\end{equation*}&#10;\end{document}" title="IguanaTex Bitmap Display">
            <a:extLst>
              <a:ext uri="{FF2B5EF4-FFF2-40B4-BE49-F238E27FC236}">
                <a16:creationId xmlns:a16="http://schemas.microsoft.com/office/drawing/2014/main" id="{5ADAD974-A479-E079-208A-7EF6A9F1025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118" y="1872850"/>
            <a:ext cx="846933" cy="33066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F3BE821-E12D-4B96-59F7-D28DC1389888}"/>
              </a:ext>
            </a:extLst>
          </p:cNvPr>
          <p:cNvSpPr txBox="1"/>
          <p:nvPr/>
        </p:nvSpPr>
        <p:spPr>
          <a:xfrm>
            <a:off x="5831304" y="2378915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[S.T. </a:t>
            </a:r>
            <a:r>
              <a:rPr lang="de-DE" sz="1800" b="0" i="0" u="none" strike="noStrike" baseline="0" dirty="0">
                <a:latin typeface="Times-Roman"/>
              </a:rPr>
              <a:t>Smith, 2014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346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Riemannian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BB2F64-0B80-7190-0D0F-809795B1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Computing Gradient </a:t>
            </a:r>
            <a:r>
              <a:rPr lang="de-DE" dirty="0" err="1"/>
              <a:t>costs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8" name="Grafik 1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&#10;\end{equation*}&#10;\end{document}" title="IguanaTex Bitmap Display">
            <a:extLst>
              <a:ext uri="{FF2B5EF4-FFF2-40B4-BE49-F238E27FC236}">
                <a16:creationId xmlns:a16="http://schemas.microsoft.com/office/drawing/2014/main" id="{DC3B1D40-1EB3-3590-FDE3-353B4685B8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383" y="5433507"/>
            <a:ext cx="975218" cy="403881"/>
          </a:xfrm>
          <a:prstGeom prst="rect">
            <a:avLst/>
          </a:prstGeom>
        </p:spPr>
      </p:pic>
      <p:pic>
        <p:nvPicPr>
          <p:cNvPr id="5" name="Grafik 4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Big(\nabla f_\text{Rényi}\left(U,\theta,\alpha\right)\Big)_{i,j,k,l}\propto&#10;\end{equation*}&#10;\end{document}" title="IguanaTex Bitmap Display">
            <a:extLst>
              <a:ext uri="{FF2B5EF4-FFF2-40B4-BE49-F238E27FC236}">
                <a16:creationId xmlns:a16="http://schemas.microsoft.com/office/drawing/2014/main" id="{9205EE0F-7815-359F-7442-642D4ADB2A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311" y="3002481"/>
            <a:ext cx="3998788" cy="70900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323FFAE-8E59-6F6D-3511-8ABC7AC2F9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8583" y="1690688"/>
            <a:ext cx="50673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6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Approximate</a:t>
            </a:r>
            <a:r>
              <a:rPr lang="de-DE" dirty="0"/>
              <a:t> </a:t>
            </a:r>
            <a:r>
              <a:rPr lang="de-DE" dirty="0" err="1"/>
              <a:t>Gradients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2BA568-56FB-7CEE-05EA-5811376B3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594" y="1940932"/>
            <a:ext cx="10310813" cy="13335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39B923D-B595-D59F-943C-83553BC1E1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594" y="1940932"/>
            <a:ext cx="10310813" cy="13335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41F88B0-D1CC-18C7-7FA1-E4A08D131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594" y="1940932"/>
            <a:ext cx="10310813" cy="13335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29BF885-7FD0-7449-8A58-161AF32FB5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062" y="4212324"/>
            <a:ext cx="5214938" cy="1738313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7AD5B086-8866-8BE9-A047-84518AD3ED37}"/>
              </a:ext>
            </a:extLst>
          </p:cNvPr>
          <p:cNvCxnSpPr>
            <a:cxnSpLocks/>
          </p:cNvCxnSpPr>
          <p:nvPr/>
        </p:nvCxnSpPr>
        <p:spPr>
          <a:xfrm flipV="1">
            <a:off x="2906829" y="2953555"/>
            <a:ext cx="549002" cy="136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 \rightarrow \mathcal{O}(D^8)&#10;\end{equation*}&#10;\end{document}" title="IguanaTex Bitmap Display">
            <a:extLst>
              <a:ext uri="{FF2B5EF4-FFF2-40B4-BE49-F238E27FC236}">
                <a16:creationId xmlns:a16="http://schemas.microsoft.com/office/drawing/2014/main" id="{AED9E6B3-6348-479C-D9CA-9BF9D36ED0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400" y="4740506"/>
            <a:ext cx="2556947" cy="40525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BB0457F-1DE9-EE4C-15E9-BBF34A3BAE30}"/>
              </a:ext>
            </a:extLst>
          </p:cNvPr>
          <p:cNvSpPr txBox="1"/>
          <p:nvPr/>
        </p:nvSpPr>
        <p:spPr>
          <a:xfrm>
            <a:off x="1110113" y="6161643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[J. </a:t>
            </a:r>
            <a:r>
              <a:rPr lang="de-DE" sz="1800" b="0" i="0" u="none" strike="noStrike" baseline="0" dirty="0">
                <a:latin typeface="Times-Roman"/>
              </a:rPr>
              <a:t>Unfried,</a:t>
            </a:r>
            <a:r>
              <a:rPr lang="de-DE" sz="1800" b="0" i="0" u="none" strike="noStrike" dirty="0">
                <a:latin typeface="Times-Roman"/>
              </a:rPr>
              <a:t> J. Hauschild, F. Pollmann,</a:t>
            </a:r>
            <a:r>
              <a:rPr lang="de-DE" sz="1800" b="0" i="0" u="none" strike="noStrike" baseline="0" dirty="0">
                <a:latin typeface="Times-Roman"/>
              </a:rPr>
              <a:t> 2022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355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30005-AFCA-3654-0059-A260B607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Approximate</a:t>
            </a:r>
            <a:r>
              <a:rPr lang="de-DE" dirty="0"/>
              <a:t> </a:t>
            </a:r>
            <a:r>
              <a:rPr lang="de-DE" dirty="0" err="1"/>
              <a:t>Gradients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07D8F9-187B-A485-BBFE-2A3AE9F52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4112" y="1978025"/>
            <a:ext cx="6929438" cy="4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87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TEBD: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updates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15510-3CA5-C850-271A-383C0A85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bond</a:t>
            </a:r>
            <a:r>
              <a:rPr lang="de-DE" dirty="0"/>
              <a:t> </a:t>
            </a:r>
            <a:r>
              <a:rPr lang="de-DE" dirty="0" err="1"/>
              <a:t>operator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:</a:t>
            </a:r>
          </a:p>
        </p:txBody>
      </p:sp>
      <p:pic>
        <p:nvPicPr>
          <p:cNvPr id="8" name="Grafik 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ket{\Psi^\prime} = \hat{U}^{[i,j]}(\Delta t) \ket{\Psi}&#10;\end{equation*}&#10;\end{document}" title="IguanaTex Bitmap Display">
            <a:extLst>
              <a:ext uri="{FF2B5EF4-FFF2-40B4-BE49-F238E27FC236}">
                <a16:creationId xmlns:a16="http://schemas.microsoft.com/office/drawing/2014/main" id="{0D0955DC-5C18-4B32-C10B-DA0F5D6B69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550" y="1825627"/>
            <a:ext cx="3049801" cy="425852"/>
          </a:xfrm>
          <a:prstGeom prst="rect">
            <a:avLst/>
          </a:prstGeom>
        </p:spPr>
      </p:pic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(T_{i,\text{opt}}^\prime, T_{j,\text{opt}}^\prime, W_{1,\text{opt}}^\prime, W_{2,\text{opt}}^\prime, W_{3,\text{opt}}^\prime)= &#10;\end{equation*}&#10;\end{document}" title="IguanaTex Bitmap Display">
            <a:extLst>
              <a:ext uri="{FF2B5EF4-FFF2-40B4-BE49-F238E27FC236}">
                <a16:creationId xmlns:a16="http://schemas.microsoft.com/office/drawing/2014/main" id="{739F4F08-59EE-AB5C-A107-9BB8CB03E5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54" y="3687607"/>
            <a:ext cx="5832533" cy="424533"/>
          </a:xfrm>
          <a:prstGeom prst="rect">
            <a:avLst/>
          </a:prstGeom>
        </p:spPr>
      </p:pic>
      <p:pic>
        <p:nvPicPr>
          <p:cNvPr id="11" name="Grafik 10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underset{T_i^\prime, T_j^\prime, W_1^\prime, W_2^\prime, W_3^\prime}{\argmax}\Re\bra{\Psi^\prime}\hat{U}^{[i,j]}(\Delta t)\ket{\Psi}&#10;\end{equation*}&#10;\end{document}" title="IguanaTex Bitmap Display">
            <a:extLst>
              <a:ext uri="{FF2B5EF4-FFF2-40B4-BE49-F238E27FC236}">
                <a16:creationId xmlns:a16="http://schemas.microsoft.com/office/drawing/2014/main" id="{DC98ABBA-ACCF-8810-BCFA-3CE4DAC122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36" y="4510913"/>
            <a:ext cx="5354667" cy="76373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BD200BE-4A5F-54CA-B80C-958BEF3348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059" y="940505"/>
            <a:ext cx="22098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TEBD: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updates</a:t>
            </a:r>
            <a:endParaRPr lang="de-DE" dirty="0"/>
          </a:p>
        </p:txBody>
      </p:sp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e\braket{\Psi^\prime|\hat{U}^{[i,j]}(\Delta t)|\Psi} = \Re&#10;\end{equation*}&#10;\end{document}" title="IguanaTex Bitmap Display">
            <a:extLst>
              <a:ext uri="{FF2B5EF4-FFF2-40B4-BE49-F238E27FC236}">
                <a16:creationId xmlns:a16="http://schemas.microsoft.com/office/drawing/2014/main" id="{3FDFA6C9-E3FB-9419-3275-0315D2F285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92" y="3899355"/>
            <a:ext cx="3940267" cy="42453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8DC0C9D-3ED4-FD38-0354-FE7CDBEA3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2159" y="1730371"/>
            <a:ext cx="49339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74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TEBD1</a:t>
            </a:r>
          </a:p>
        </p:txBody>
      </p:sp>
      <p:pic>
        <p:nvPicPr>
          <p:cNvPr id="6" name="Grafik 5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1}(\Delta t) + \mathcal{O}(\Delta t^2)&#10;\end{equation*}&#10;\end{document}" title="IguanaTex Bitmap Display">
            <a:extLst>
              <a:ext uri="{FF2B5EF4-FFF2-40B4-BE49-F238E27FC236}">
                <a16:creationId xmlns:a16="http://schemas.microsoft.com/office/drawing/2014/main" id="{435338EF-6D0E-CBAA-AACF-14264E47C35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639" y="815641"/>
            <a:ext cx="4915200" cy="42453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4F9BA1B-EF60-070E-DC68-B7B962C4C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978" y="1452871"/>
            <a:ext cx="10461819" cy="504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02392FF-3CBC-89EE-2E08-365DA0A3B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978" y="1452871"/>
            <a:ext cx="10461817" cy="504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F30626F-6468-0F88-744C-E697D2665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978" y="1452871"/>
            <a:ext cx="10461817" cy="50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7B6C634-EB74-4C6D-B53F-1311CE6B1A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978" y="1452871"/>
            <a:ext cx="10461819" cy="504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452719E-AB9E-51ED-5D5C-8EFE27ED36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978" y="1452871"/>
            <a:ext cx="10461819" cy="504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AA1A6B4-554F-EDF5-BD4E-EE4AD0E9CC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1978" y="1452871"/>
            <a:ext cx="10461817" cy="504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2497FA7-33E2-BE73-1D21-A21403D102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1978" y="1452871"/>
            <a:ext cx="1046181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7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1A851-5803-7CD5-470F-2FA89E46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TEBD1 </a:t>
            </a:r>
            <a:r>
              <a:rPr lang="de-DE" dirty="0" err="1"/>
              <a:t>vs</a:t>
            </a:r>
            <a:r>
              <a:rPr lang="de-DE" dirty="0"/>
              <a:t> TEBD2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740F90-2DD4-4108-1E6D-2E78C8B8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First </a:t>
            </a:r>
            <a:r>
              <a:rPr lang="de-DE" dirty="0" err="1"/>
              <a:t>order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Second </a:t>
            </a:r>
            <a:r>
              <a:rPr lang="de-DE" dirty="0" err="1"/>
              <a:t>order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		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YB </a:t>
            </a:r>
            <a:r>
              <a:rPr lang="de-DE" dirty="0" err="1"/>
              <a:t>moves</a:t>
            </a:r>
            <a:r>
              <a:rPr lang="de-DE" dirty="0"/>
              <a:t>!</a:t>
            </a:r>
          </a:p>
        </p:txBody>
      </p:sp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1}(\Delta t) + \mathcal{O}(\Delta t^2)&#10;\end{equation*}&#10;\end{document}" title="IguanaTex Bitmap Display">
            <a:extLst>
              <a:ext uri="{FF2B5EF4-FFF2-40B4-BE49-F238E27FC236}">
                <a16:creationId xmlns:a16="http://schemas.microsoft.com/office/drawing/2014/main" id="{FD0B11CE-7229-8CCA-02BE-108486D1E3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960" y="1871709"/>
            <a:ext cx="4915200" cy="424533"/>
          </a:xfrm>
          <a:prstGeom prst="rect">
            <a:avLst/>
          </a:prstGeom>
        </p:spPr>
      </p:pic>
      <p:pic>
        <p:nvPicPr>
          <p:cNvPr id="5" name="Grafik 4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2}(\Delta t) + \mathcal{O}(\Delta t^3)&#10;\end{equation*}&#10;\end{document}" title="IguanaTex Bitmap Display">
            <a:extLst>
              <a:ext uri="{FF2B5EF4-FFF2-40B4-BE49-F238E27FC236}">
                <a16:creationId xmlns:a16="http://schemas.microsoft.com/office/drawing/2014/main" id="{974DC9F5-94AB-E714-2E77-4887DA4326C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960" y="2833330"/>
            <a:ext cx="4915200" cy="4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59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Transverse Field Ising (TFI) </a:t>
            </a:r>
            <a:r>
              <a:rPr lang="de-DE" dirty="0" err="1"/>
              <a:t>model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15510-3CA5-C850-271A-383C0A85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Critical </a:t>
            </a:r>
            <a:r>
              <a:rPr lang="de-DE" dirty="0" err="1"/>
              <a:t>field</a:t>
            </a:r>
            <a:endParaRPr lang="de-DE" dirty="0"/>
          </a:p>
        </p:txBody>
      </p:sp>
      <p:pic>
        <p:nvPicPr>
          <p:cNvPr id="5" name="Grafik 4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H}_\text{TFI} = -J\sum_{\langle i,j\rangle} \hat{\sigma}^x_i \hat{\sigma}^x_j - g\sum_{i} \hat{\sigma}^z_i&#10;\end{equation*}&#10;\end{document}" title="IguanaTex Bitmap Display">
            <a:extLst>
              <a:ext uri="{FF2B5EF4-FFF2-40B4-BE49-F238E27FC236}">
                <a16:creationId xmlns:a16="http://schemas.microsoft.com/office/drawing/2014/main" id="{F952D50B-A1E4-7473-F8A1-9896E07C7A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73" y="2368677"/>
            <a:ext cx="4804267" cy="838400"/>
          </a:xfrm>
          <a:prstGeom prst="rect">
            <a:avLst/>
          </a:prstGeom>
        </p:spPr>
      </p:pic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 \approx 3.04438&#10;\end{equation*}&#10;\end{document}" title="IguanaTex Bitmap Display">
            <a:extLst>
              <a:ext uri="{FF2B5EF4-FFF2-40B4-BE49-F238E27FC236}">
                <a16:creationId xmlns:a16="http://schemas.microsoft.com/office/drawing/2014/main" id="{BF76285C-17CE-6AE3-65C4-75285A6F04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934" y="3958450"/>
            <a:ext cx="1796267" cy="31146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5DAD4B9-B53B-8ECA-DDCD-977C04110A6B}"/>
              </a:ext>
            </a:extLst>
          </p:cNvPr>
          <p:cNvSpPr txBox="1"/>
          <p:nvPr/>
        </p:nvSpPr>
        <p:spPr>
          <a:xfrm>
            <a:off x="6331357" y="3900585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</a:t>
            </a:r>
            <a:r>
              <a:rPr lang="de-DE" sz="1800" b="0" i="0" u="none" strike="noStrike" baseline="0" dirty="0">
                <a:latin typeface="Times New Roman" panose="02020603050405020304" pitchFamily="18" charset="0"/>
              </a:rPr>
              <a:t>H.W. J. </a:t>
            </a:r>
            <a:r>
              <a:rPr lang="de-DE" sz="1800" b="0" i="0" u="none" strike="noStrike" baseline="0" dirty="0" err="1">
                <a:latin typeface="Times New Roman" panose="02020603050405020304" pitchFamily="18" charset="0"/>
              </a:rPr>
              <a:t>Blöte</a:t>
            </a:r>
            <a:r>
              <a:rPr lang="de-DE" sz="1800" b="0" i="0" u="none" strike="noStrike" baseline="0" dirty="0">
                <a:latin typeface="Times New Roman" panose="02020603050405020304" pitchFamily="18" charset="0"/>
              </a:rPr>
              <a:t>, Y. Deng, 2002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9835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DD159-F5E9-D84B-C353-606FB665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Ground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imaginary</a:t>
            </a:r>
            <a:r>
              <a:rPr lang="de-DE" dirty="0"/>
              <a:t> TEBD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7570E-7BFC-BE4F-636D-25887FD55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Imaginary</a:t>
            </a:r>
            <a:r>
              <a:rPr lang="de-DE" dirty="0"/>
              <a:t> TEBD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states</a:t>
            </a:r>
            <a:endParaRPr lang="de-DE" dirty="0"/>
          </a:p>
          <a:p>
            <a:endParaRPr lang="de-DE" dirty="0"/>
          </a:p>
          <a:p>
            <a:r>
              <a:rPr lang="de-DE" dirty="0"/>
              <a:t>TEBD </a:t>
            </a:r>
            <a:r>
              <a:rPr lang="de-DE" dirty="0" err="1"/>
              <a:t>error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Best </a:t>
            </a:r>
            <a:r>
              <a:rPr lang="de-DE" dirty="0" err="1"/>
              <a:t>results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Reference Simulation: DMRG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tenpy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varepsilon_\text{TEBD} = \varepsilon_\text{Trotter} + \varepsilon_\text{local} + \varepsilon_\text{YB}&#10;\end{equation*}&#10;\end{document}" title="IguanaTex Bitmap Display">
            <a:extLst>
              <a:ext uri="{FF2B5EF4-FFF2-40B4-BE49-F238E27FC236}">
                <a16:creationId xmlns:a16="http://schemas.microsoft.com/office/drawing/2014/main" id="{31DE4BB1-95DE-0407-7C60-AB216F844D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684" y="2973469"/>
            <a:ext cx="4699733" cy="262400"/>
          </a:xfrm>
          <a:prstGeom prst="rect">
            <a:avLst/>
          </a:prstGeom>
        </p:spPr>
      </p:pic>
      <p:pic>
        <p:nvPicPr>
          <p:cNvPr id="5" name="Grafik 4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varepsilon_\text{Trotter} + \varepsilon_\text{local} \approx \varepsilon_\text{YB}&#10;\end{equation*}&#10;\end{document}" title="IguanaTex Bitmap Display">
            <a:extLst>
              <a:ext uri="{FF2B5EF4-FFF2-40B4-BE49-F238E27FC236}">
                <a16:creationId xmlns:a16="http://schemas.microsoft.com/office/drawing/2014/main" id="{11A6FFF5-A9BE-D19D-2822-85AFA316B0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684" y="4001295"/>
            <a:ext cx="3283200" cy="2624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FF3159-25D6-64E5-4C8E-C990CD914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946" y="3495208"/>
            <a:ext cx="2500404" cy="24199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A4AAC30-8378-D7E4-A8AC-C08E33A79AC0}"/>
              </a:ext>
            </a:extLst>
          </p:cNvPr>
          <p:cNvSpPr txBox="1"/>
          <p:nvPr/>
        </p:nvSpPr>
        <p:spPr>
          <a:xfrm>
            <a:off x="1154806" y="5400858"/>
            <a:ext cx="521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</a:t>
            </a:r>
            <a:r>
              <a:rPr lang="de-DE" sz="1800" b="0" i="0" u="none" strike="noStrike" baseline="0" dirty="0">
                <a:latin typeface="Times New Roman" panose="02020603050405020304" pitchFamily="18" charset="0"/>
              </a:rPr>
              <a:t>J. Hauschild, F. Pollmann, 2018</a:t>
            </a:r>
            <a:r>
              <a:rPr 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5839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Comparing</a:t>
            </a:r>
            <a:r>
              <a:rPr lang="de-DE" dirty="0"/>
              <a:t> YB-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algorithms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AB932ED-0B58-57B9-D5C3-A8737ECDB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7565" y="1940400"/>
            <a:ext cx="2600325" cy="42805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3DA9C16-DBBF-9EA5-285F-7890FB7A3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4966" y="1940400"/>
            <a:ext cx="2600325" cy="428053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611AA9C-23C4-FE66-7FFD-E724ADAD5A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2368" y="1940400"/>
            <a:ext cx="2680335" cy="428053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62513B1-5878-90D1-750F-87656D0AEC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046" y="1980405"/>
            <a:ext cx="3540443" cy="424053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01F17CD-1A79-AA55-E2C4-7C6173282905}"/>
              </a:ext>
            </a:extLst>
          </p:cNvPr>
          <p:cNvSpPr txBox="1"/>
          <p:nvPr/>
        </p:nvSpPr>
        <p:spPr>
          <a:xfrm>
            <a:off x="3343686" y="6332181"/>
            <a:ext cx="51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4x4 diagonal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lattice</a:t>
            </a:r>
            <a:r>
              <a:rPr lang="de-DE" dirty="0"/>
              <a:t>, TFI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pic>
        <p:nvPicPr>
          <p:cNvPr id="12" name="Grafik 11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 title="IguanaTex Bitmap Display">
            <a:extLst>
              <a:ext uri="{FF2B5EF4-FFF2-40B4-BE49-F238E27FC236}">
                <a16:creationId xmlns:a16="http://schemas.microsoft.com/office/drawing/2014/main" id="{5A65C8E1-3950-846E-BE10-B32E2C7B3D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0" y="6422056"/>
            <a:ext cx="958629" cy="2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2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6F56-A6FE-96FD-60A6-1ED23E1A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TEBD1 </a:t>
            </a:r>
            <a:r>
              <a:rPr lang="de-DE" dirty="0" err="1"/>
              <a:t>vs</a:t>
            </a:r>
            <a:r>
              <a:rPr lang="de-DE" dirty="0"/>
              <a:t> TEBD2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A17D9BD-0A1E-A09A-E12C-3AEC54E8E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5269" y="1940400"/>
            <a:ext cx="2600325" cy="4280535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004C217-AF11-DF73-FCB6-CC09B772A6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8807" y="1940400"/>
            <a:ext cx="3540443" cy="428053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663AB33-80F4-2E98-401F-FFECADC27A36}"/>
              </a:ext>
            </a:extLst>
          </p:cNvPr>
          <p:cNvSpPr txBox="1"/>
          <p:nvPr/>
        </p:nvSpPr>
        <p:spPr>
          <a:xfrm>
            <a:off x="3343686" y="6332181"/>
            <a:ext cx="51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4x4 diagonal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lattice</a:t>
            </a:r>
            <a:r>
              <a:rPr lang="de-DE" dirty="0"/>
              <a:t>, TFI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pic>
        <p:nvPicPr>
          <p:cNvPr id="4" name="Grafik 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 title="IguanaTex Bitmap Display">
            <a:extLst>
              <a:ext uri="{FF2B5EF4-FFF2-40B4-BE49-F238E27FC236}">
                <a16:creationId xmlns:a16="http://schemas.microsoft.com/office/drawing/2014/main" id="{84A9A8F0-134C-0DB0-8CBA-ADFF608F5D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0" y="6422056"/>
            <a:ext cx="958629" cy="2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73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31E843E-B15D-DA59-41F8-DFB203B73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9539" y="1940087"/>
            <a:ext cx="2600325" cy="4360545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2545FA-637A-B67A-EF14-5CF5A51C3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318" y="1940086"/>
            <a:ext cx="3540443" cy="43605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49DB8D6-5677-4440-DD1D-7AD32701F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7470" y="1940087"/>
            <a:ext cx="2600325" cy="436054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E3859F0-809B-7F9F-76BF-6F44E519F2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8504" y="1940087"/>
            <a:ext cx="2600325" cy="4360545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5BD26D9-7A05-C65A-11CA-BCF46231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r>
              <a:rPr lang="de-DE" dirty="0"/>
              <a:t>Larger </a:t>
            </a:r>
            <a:r>
              <a:rPr lang="de-DE" dirty="0" err="1"/>
              <a:t>lattices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72951FA-A3E9-3BCC-C761-6B76233CB798}"/>
              </a:ext>
            </a:extLst>
          </p:cNvPr>
          <p:cNvSpPr txBox="1"/>
          <p:nvPr/>
        </p:nvSpPr>
        <p:spPr>
          <a:xfrm>
            <a:off x="3565528" y="6332181"/>
            <a:ext cx="51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Diagonal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lattice</a:t>
            </a:r>
            <a:r>
              <a:rPr lang="de-DE" dirty="0"/>
              <a:t>, TFI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pic>
        <p:nvPicPr>
          <p:cNvPr id="3" name="Grafik 2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 title="IguanaTex Bitmap Display">
            <a:extLst>
              <a:ext uri="{FF2B5EF4-FFF2-40B4-BE49-F238E27FC236}">
                <a16:creationId xmlns:a16="http://schemas.microsoft.com/office/drawing/2014/main" id="{6BAB58A5-ECBF-3578-F353-F1AC81F704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248" y="6435516"/>
            <a:ext cx="958629" cy="2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34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6F56-A6FE-96FD-60A6-1ED23E1A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Larger </a:t>
            </a:r>
            <a:r>
              <a:rPr lang="de-DE" dirty="0" err="1"/>
              <a:t>lattices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2A34CB5-DBCC-944A-A2C7-B70B2A5C0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95" y="1861816"/>
            <a:ext cx="11357610" cy="4631055"/>
          </a:xfr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F0CA75D-0CFB-CE2C-FF5C-5C49A9080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" y="1861816"/>
            <a:ext cx="7627620" cy="463105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8DFB97-AD15-5A6F-F7D8-1D72B0DC5E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195" y="1861816"/>
            <a:ext cx="7627620" cy="463105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423F913-F2F7-F199-3233-DED3399C2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2346" y="890336"/>
            <a:ext cx="1497216" cy="144904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89868AC-C4BB-CC86-3EE0-39CFCFF72DEF}"/>
              </a:ext>
            </a:extLst>
          </p:cNvPr>
          <p:cNvSpPr txBox="1"/>
          <p:nvPr/>
        </p:nvSpPr>
        <p:spPr>
          <a:xfrm>
            <a:off x="8418490" y="5847008"/>
            <a:ext cx="343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Diagonal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lattice</a:t>
            </a:r>
            <a:r>
              <a:rPr lang="de-DE" dirty="0"/>
              <a:t>,</a:t>
            </a:r>
          </a:p>
          <a:p>
            <a:r>
              <a:rPr lang="de-DE" dirty="0"/>
              <a:t>TFI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pic>
        <p:nvPicPr>
          <p:cNvPr id="8" name="Grafik 7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 title="IguanaTex Bitmap Display">
            <a:extLst>
              <a:ext uri="{FF2B5EF4-FFF2-40B4-BE49-F238E27FC236}">
                <a16:creationId xmlns:a16="http://schemas.microsoft.com/office/drawing/2014/main" id="{FCE7A334-46B1-E776-F8BC-ACDE0C6335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54" y="6210061"/>
            <a:ext cx="958629" cy="2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1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6F56-A6FE-96FD-60A6-1ED23E1A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Real-time </a:t>
            </a:r>
            <a:r>
              <a:rPr lang="de-DE" dirty="0" err="1"/>
              <a:t>evolution</a:t>
            </a:r>
            <a:r>
              <a:rPr lang="de-DE" dirty="0"/>
              <a:t>: Global </a:t>
            </a:r>
            <a:r>
              <a:rPr lang="de-DE" dirty="0" err="1"/>
              <a:t>quench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75F83E7-AE23-A925-CC23-9FAD4733D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76" y="2037087"/>
            <a:ext cx="10200247" cy="4290734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84AFCDD-A664-8072-3725-D31A309FA0FC}"/>
              </a:ext>
            </a:extLst>
          </p:cNvPr>
          <p:cNvSpPr txBox="1"/>
          <p:nvPr/>
        </p:nvSpPr>
        <p:spPr>
          <a:xfrm>
            <a:off x="8418490" y="5847008"/>
            <a:ext cx="343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8x8 diagonal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lattice</a:t>
            </a:r>
            <a:r>
              <a:rPr lang="de-DE" dirty="0"/>
              <a:t>,</a:t>
            </a:r>
          </a:p>
          <a:p>
            <a:r>
              <a:rPr lang="de-DE" dirty="0"/>
              <a:t>TFI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pic>
        <p:nvPicPr>
          <p:cNvPr id="9" name="Grafik 8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 = g_\text{C}&#10;\end{equation*}&#10;\end{document}" title="IguanaTex Bitmap Display">
            <a:extLst>
              <a:ext uri="{FF2B5EF4-FFF2-40B4-BE49-F238E27FC236}">
                <a16:creationId xmlns:a16="http://schemas.microsoft.com/office/drawing/2014/main" id="{9CDDA163-135E-A1A0-1063-E246DF406B1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55" y="6263286"/>
            <a:ext cx="647069" cy="14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73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85609-6C2B-CA0F-D9A2-7B8DED9C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 &amp; 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7F0B99-EC4E-3558-0E3D-37C3985F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Alternative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  <a:p>
            <a:r>
              <a:rPr lang="de-DE" dirty="0"/>
              <a:t>YB-</a:t>
            </a:r>
            <a:r>
              <a:rPr lang="de-DE" dirty="0" err="1"/>
              <a:t>move</a:t>
            </a:r>
            <a:r>
              <a:rPr lang="de-DE" dirty="0"/>
              <a:t>:</a:t>
            </a:r>
          </a:p>
          <a:p>
            <a:r>
              <a:rPr lang="de-DE" dirty="0" err="1"/>
              <a:t>Easily</a:t>
            </a:r>
            <a:r>
              <a:rPr lang="de-DE" dirty="0"/>
              <a:t> </a:t>
            </a:r>
            <a:r>
              <a:rPr lang="de-DE" dirty="0" err="1"/>
              <a:t>generalizable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lattices</a:t>
            </a:r>
            <a:endParaRPr lang="de-DE" dirty="0"/>
          </a:p>
          <a:p>
            <a:r>
              <a:rPr lang="de-DE" dirty="0" err="1"/>
              <a:t>Toric</a:t>
            </a:r>
            <a:r>
              <a:rPr lang="de-DE" dirty="0"/>
              <a:t> Code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representable</a:t>
            </a:r>
            <a:endParaRPr lang="de-DE" dirty="0"/>
          </a:p>
          <a:p>
            <a:r>
              <a:rPr lang="de-DE" dirty="0"/>
              <a:t>TEBD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time </a:t>
            </a:r>
            <a:r>
              <a:rPr lang="de-DE" dirty="0" err="1"/>
              <a:t>evolution</a:t>
            </a:r>
            <a:endParaRPr lang="de-DE" dirty="0"/>
          </a:p>
          <a:p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evidence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2D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law</a:t>
            </a:r>
            <a:r>
              <a:rPr lang="de-DE" dirty="0"/>
              <a:t> </a:t>
            </a:r>
            <a:r>
              <a:rPr lang="de-DE" dirty="0" err="1"/>
              <a:t>states</a:t>
            </a:r>
            <a:endParaRPr lang="de-DE" dirty="0"/>
          </a:p>
          <a:p>
            <a:r>
              <a:rPr lang="de-DE" dirty="0"/>
              <a:t>Outlook:</a:t>
            </a:r>
          </a:p>
          <a:p>
            <a:pPr lvl="1"/>
            <a:r>
              <a:rPr lang="de-DE" dirty="0"/>
              <a:t>DMRG</a:t>
            </a:r>
          </a:p>
          <a:p>
            <a:pPr lvl="1"/>
            <a:r>
              <a:rPr lang="de-DE" dirty="0" err="1"/>
              <a:t>Thermodynamic</a:t>
            </a:r>
            <a:r>
              <a:rPr lang="de-DE" dirty="0"/>
              <a:t> </a:t>
            </a:r>
            <a:r>
              <a:rPr lang="de-DE" dirty="0" err="1"/>
              <a:t>limit</a:t>
            </a:r>
            <a:endParaRPr lang="de-DE" dirty="0"/>
          </a:p>
          <a:p>
            <a:pPr lvl="1"/>
            <a:r>
              <a:rPr lang="de-DE" dirty="0"/>
              <a:t>GPUs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1CB7D10-3074-EB9A-2B8C-90F1BB970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8172" y="728132"/>
            <a:ext cx="2209800" cy="2324100"/>
          </a:xfrm>
          <a:prstGeom prst="rect">
            <a:avLst/>
          </a:prstGeom>
        </p:spPr>
      </p:pic>
      <p:pic>
        <p:nvPicPr>
          <p:cNvPr id="7" name="Grafik 6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8)&#10;\end{equation*}&#10;\end{document}" title="IguanaTex Bitmap Display">
            <a:extLst>
              <a:ext uri="{FF2B5EF4-FFF2-40B4-BE49-F238E27FC236}">
                <a16:creationId xmlns:a16="http://schemas.microsoft.com/office/drawing/2014/main" id="{E774C353-1654-C920-54CE-75C1253473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947" y="2292317"/>
            <a:ext cx="974933" cy="40106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4B5CB28-BB77-99D6-DFDE-C947175BEF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0097" y="3187171"/>
            <a:ext cx="18859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3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C80F8-26C3-85E9-D443-F8D71315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03" y="371479"/>
            <a:ext cx="10515600" cy="1325559"/>
          </a:xfrm>
        </p:spPr>
        <p:txBody>
          <a:bodyPr/>
          <a:lstStyle/>
          <a:p>
            <a:r>
              <a:rPr lang="de-DE" dirty="0"/>
              <a:t>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292509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52E69-7594-7757-5F07-49FF9656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Moses-Move (MM) – </a:t>
            </a:r>
            <a:r>
              <a:rPr lang="de-DE" dirty="0" err="1"/>
              <a:t>Tripartite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9108560-60C4-504A-E685-5C06D7663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0" y="3001915"/>
            <a:ext cx="9715500" cy="18288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E565478-A982-6D3E-3ECB-D8EB20516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8250" y="3001915"/>
            <a:ext cx="9715500" cy="18288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21FD54-CB2B-2405-856E-B66196BE21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250" y="3001915"/>
            <a:ext cx="9715500" cy="18288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4A5F34F-8849-D0D8-62EC-E940D93AE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8250" y="3001915"/>
            <a:ext cx="97155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9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5CC0FF2-9BDA-7E29-DEB4-614674689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1781" y="2309813"/>
            <a:ext cx="6548438" cy="2238375"/>
          </a:xfr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F6981F65-DDB4-D3E9-1870-BDBF3E50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r>
              <a:rPr lang="de-DE" dirty="0" err="1"/>
              <a:t>Isometric</a:t>
            </a:r>
            <a:r>
              <a:rPr lang="de-DE" dirty="0"/>
              <a:t> Tensors</a:t>
            </a:r>
          </a:p>
        </p:txBody>
      </p:sp>
    </p:spTree>
    <p:extLst>
      <p:ext uri="{BB962C8B-B14F-4D97-AF65-F5344CB8AC3E}">
        <p14:creationId xmlns:p14="http://schemas.microsoft.com/office/powerpoint/2010/main" val="14288558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30C48-E227-605C-1BA3-9738F49D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Moving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Orthogonality</a:t>
            </a:r>
            <a:r>
              <a:rPr lang="de-DE" dirty="0"/>
              <a:t> Center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5C82E47-740A-2E47-FBA5-27C260321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1750" y="2217286"/>
            <a:ext cx="7048500" cy="3452813"/>
          </a:xfrm>
        </p:spPr>
      </p:pic>
    </p:spTree>
    <p:extLst>
      <p:ext uri="{BB962C8B-B14F-4D97-AF65-F5344CB8AC3E}">
        <p14:creationId xmlns:p14="http://schemas.microsoft.com/office/powerpoint/2010/main" val="76947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695EA-3E26-5DBB-26A8-D8F4475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DMRG </a:t>
            </a:r>
            <a:r>
              <a:rPr lang="de-DE" dirty="0" err="1"/>
              <a:t>extrapolation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4DE06CB-E20A-76B0-E3DF-5CF8A5CE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43" y="1690687"/>
            <a:ext cx="8328395" cy="48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08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3F4541-E858-5FEA-E21A-BD40BC72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Expectation</a:t>
            </a:r>
            <a:r>
              <a:rPr lang="de-DE" dirty="0"/>
              <a:t> Values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5891159-86C4-85F0-E8E6-2A0063011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3" y="1692000"/>
            <a:ext cx="4198620" cy="4415790"/>
          </a:xfr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AC2F5A7-74B9-7B3E-CC3B-900E182766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5664" y="2214943"/>
            <a:ext cx="3764280" cy="3688080"/>
          </a:xfrm>
          <a:prstGeom prst="rect">
            <a:avLst/>
          </a:prstGeom>
        </p:spPr>
      </p:pic>
      <p:pic>
        <p:nvPicPr>
          <p:cNvPr id="14" name="Grafik 13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braket{\Psi|\hat{O}_{i,j}|\Psi} =&#10;\end{equation*}&#10;\end{document}" title="IguanaTex Bitmap Display">
            <a:extLst>
              <a:ext uri="{FF2B5EF4-FFF2-40B4-BE49-F238E27FC236}">
                <a16:creationId xmlns:a16="http://schemas.microsoft.com/office/drawing/2014/main" id="{1EA70639-D14C-E90B-0FAA-5FBCC26992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093" y="3838564"/>
            <a:ext cx="1941981" cy="44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8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89A8A-A625-5AE7-0388-DD37747D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TEBD2</a:t>
            </a:r>
          </a:p>
        </p:txBody>
      </p:sp>
      <p:pic>
        <p:nvPicPr>
          <p:cNvPr id="7" name="Grafik 6" descr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2}(\Delta t) + \mathcal{O}(\Delta t^3)&#10;\end{equation*}&#10;\end{document}" title="IguanaTex Bitmap Display">
            <a:extLst>
              <a:ext uri="{FF2B5EF4-FFF2-40B4-BE49-F238E27FC236}">
                <a16:creationId xmlns:a16="http://schemas.microsoft.com/office/drawing/2014/main" id="{1B93B2A2-E0A5-397D-C9BC-A29378B6CF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400" y="815641"/>
            <a:ext cx="4915200" cy="42453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55FAAEF-57B9-A844-0FD5-DBBA6BFE1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800" y="1454400"/>
            <a:ext cx="10461816" cy="504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A8F95DD-3BB2-9D45-F6F1-2880A39D8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800" y="1454400"/>
            <a:ext cx="10461817" cy="504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2A4CCD-C1F1-196F-C5CE-0123F20490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800" y="1454400"/>
            <a:ext cx="10461817" cy="50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9C74E2E-57F0-27D4-6565-A46F72C6F1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800" y="1454400"/>
            <a:ext cx="10461818" cy="504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13E2C9E-4663-828F-7BE7-579A1B2649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2800" y="1454400"/>
            <a:ext cx="10461818" cy="504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EE81087-FDEE-A150-91D1-F062E48CD2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2800" y="1454400"/>
            <a:ext cx="10461816" cy="504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14282EE-9919-BA97-8D70-8EE6F8820D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2800" y="1454400"/>
            <a:ext cx="1046181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2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4B5A1-A35B-6028-0C15-69259278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178452-E881-DEF4-E097-CC75A0BF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96897C-AC32-6A4E-7A56-44E65AFE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98" y="365129"/>
            <a:ext cx="9224525" cy="636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446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A46CA-2D6A-A05D-4EB8-DD1B6B29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Ground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logarithmic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1EBA62-346A-1CB8-1127-BAF7E3840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F124302-2326-2DE5-D91C-7C55F51C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27" y="1825627"/>
            <a:ext cx="8106192" cy="46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9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,2025"/>
  <p:tag name="ORIGINALWIDTH" val="2694,413"/>
  <p:tag name="LATEXADDIN" val="\documentclass{article}&#10;\usepackage{amsmath}&#10;\usepackage{mathtools}&#10;\usepackage{braket}&#10;\pagestyle{empty}&#10;\begin{document}&#10;\begin{equation*}&#10;\ket{\Psi} = \sum_{i_1,i_2,\dots,i_N=1}^{d}\Psi_{i_1,i_2,\dots,i_N} \ket{i_1} \otimes \ket{i_2} \otimes \cdots \otimes \ket{i_N} &#10;\end{equation*}&#10;\end{document}"/>
  <p:tag name="IGUANATEXSIZE" val="28"/>
  <p:tag name="IGUANATEXCURSOR" val="18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,4859"/>
  <p:tag name="ORIGINALWIDTH" val="143,982"/>
  <p:tag name="LATEXADDIN" val="\documentclass{article}&#10;\usepackage{amsmath}&#10;\usepackage{mathtools}&#10;\pagestyle{empty}&#10;\begin{document}&#10;\begin{equation*}&#10;d^N&#10;\end{equation*}&#10;\end{document}"/>
  <p:tag name="IGUANATEXSIZE" val="28"/>
  <p:tag name="IGUANATEXCURSOR" val="12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,24299"/>
  <p:tag name="ORIGINALWIDTH" val="68,24149"/>
  <p:tag name="LATEXADDIN" val="\documentclass{article}&#10;\usepackage{amsmath}&#10;\usepackage{mathtools}&#10;\pagestyle{empty}&#10;\begin{document}&#10;\begin{equation*}&#10;n&#10;\end{equation*}&#10;\end{document}"/>
  <p:tag name="IGUANATEXSIZE" val="28"/>
  <p:tag name="IGUANATEXCURSOR" val="12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,9872"/>
  <p:tag name="ORIGINALWIDTH" val="985,3768"/>
  <p:tag name="LATEXADDIN" val="\documentclass{article}&#10;\usepackage{amsmath}&#10;\usepackage{amssymb}&#10;\usepackage{mathtools}&#10;\pagestyle{empty}&#10;\begin{document}&#10;\begin{equation*}&#10;T \in \mathbb{C}^{\chi_1\times\chi_2\times\dots\times\chi_n}&#10;\end{equation*}&#10;\end{document}"/>
  <p:tag name="IGUANATEXSIZE" val="28"/>
  <p:tag name="IGUANATEXCURSOR" val="6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755,9055"/>
  <p:tag name="LATEXADDIN" val="\documentclass{article}&#10;\usepackage{amsmath}&#10;\usepackage{amssymb}&#10;\usepackage{mathtools}&#10;\pagestyle{empty}&#10;\begin{document}&#10;\begin{equation*}&#10;T_{i_1,i_2,\dots,i_n} \in \mathbb{C}&#10;\end{equation*}&#10;\end{document}"/>
  <p:tag name="IGUANATEXSIZE" val="28"/>
  <p:tag name="IGUANATEXCURSOR" val="6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,7068"/>
  <p:tag name="ORIGINALWIDTH" val="745,4069"/>
  <p:tag name="LATEXADDIN" val="\documentclass{article}&#10;\usepackage{amsmath}&#10;\usepackage{mathtools}&#10;\pagestyle{empty}&#10;\begin{document}&#10;\begin{equation*}&#10;c = \sum_{\alpha=1}^{\chi}A_\alpha B_\alpha&#10;\end{equation*}&#10;\end{document}"/>
  <p:tag name="IGUANATEXSIZE" val="28"/>
  <p:tag name="IGUANATEXCURSOR" val="16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,7068"/>
  <p:tag name="ORIGINALWIDTH" val="944,8819"/>
  <p:tag name="LATEXADDIN" val="\documentclass{article}&#10;\usepackage{amsmath}&#10;\usepackage{mathtools}&#10;\pagestyle{empty}&#10;\begin{document}&#10;\begin{equation*}&#10;C_{ij} = \sum_{\alpha=1}^{\chi} A_{i\alpha} B_{\alpha j}&#10;\end{equation*}&#10;\end{document}"/>
  <p:tag name="IGUANATEXSIZE" val="28"/>
  <p:tag name="IGUANATEXCURSOR" val="15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6,4829"/>
  <p:tag name="ORIGINALWIDTH" val="660,6674"/>
  <p:tag name="LATEXADDIN" val="\documentclass{article}&#10;\usepackage{amsmath}&#10;\usepackage{mathtools}&#10;\pagestyle{empty}&#10;\begin{document}&#10;\begin{equation*}&#10; d^N \rightarrow N\chi^2d&#10;\end{equation*}&#10;\end{document}"/>
  <p:tag name="IGUANATEXSIZE" val="28"/>
  <p:tag name="IGUANATEXCURSOR" val="14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,2025"/>
  <p:tag name="ORIGINALWIDTH" val="2694,413"/>
  <p:tag name="LATEXADDIN" val="\documentclass{article}&#10;\usepackage{amsmath}&#10;\usepackage{mathtools}&#10;\usepackage{braket}&#10;\pagestyle{empty}&#10;\begin{document}&#10;\begin{equation*}&#10;\ket{\Psi} = \sum_{i_1,i_2,\dots,i_N=1}^{d}\Psi_{i_1,i_2,\dots,i_N} \ket{i_1} \otimes \ket{i_2} \otimes \cdots \otimes \ket{i_N} &#10;\end{equation*}&#10;\end{document}"/>
  <p:tag name="IGUANATEXSIZE" val="28"/>
  <p:tag name="IGUANATEXCURSOR" val="18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,24"/>
  <p:tag name="ORIGINALWIDTH" val="70,4911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chi&#10;\end{equation*}&#10;\end{document}"/>
  <p:tag name="IGUANATEXSIZE" val="28"/>
  <p:tag name="IGUANATEXCURSOR" val="639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0,7349"/>
  <p:tag name="ORIGINALWIDTH" val="1047,619"/>
  <p:tag name="LATEXADDIN" val="\documentclass{article}&#10;\usepackage{amsmath}&#10;\usepackage{amssymb}&#10;\usepackage{mathtools}&#10;\pagestyle{empty}&#10;\begin{document}&#10;\begin{equation*}&#10;W \in \mathbb{C}^{n\times m}, \,\, n\ge m&#10;\end{equation*}&#10;\end{document}"/>
  <p:tag name="IGUANATEXSIZE" val="28"/>
  <p:tag name="IGUANATEXCURSOR" val="6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2354"/>
  <p:tag name="ORIGINALWIDTH" val="543,6821"/>
  <p:tag name="LATEXADDIN" val="\documentclass{article}&#10;\usepackage{amsmath}&#10;\usepackage{mathtools}&#10;\DeclareMathAlphabet{\mathbbb}{U}{bbold}{m}{n}&#10;\newcommand{\id}{\mathbbb{1}}&#10;\pagestyle{empty}&#10;\begin{document}&#10;\begin{equation*}&#10;W^\dagger W = \id&#10;\end{equation*}&#10;\end{document}"/>
  <p:tag name="IGUANATEXSIZE" val="28"/>
  <p:tag name="IGUANATEXCURSOR" val="21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,2328"/>
  <p:tag name="ORIGINALWIDTH" val="1109,111"/>
  <p:tag name="LATEXADDIN" val="\documentclass{article}&#10;\usepackage{amsmath}&#10;\usepackage{amssymb}&#10;\usepackage{mathtools}&#10;\pagestyle{empty}&#10;\begin{document}&#10;\begin{equation*}&#10;WW^\dagger = \mathbb{P}, \quad \mathbb{P}^2 = \mathbb{P}&#10;\end{equation*}&#10;\end{document}"/>
  <p:tag name="IGUANATEXSIZE" val="28"/>
  <p:tag name="IGUANATEXCURSOR" val="14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632,9208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braket{\Psi|\hat{O}_n|\Psi} =&#10;\end{equation*}&#10;\end{document}"/>
  <p:tag name="IGUANATEXSIZE" val="28"/>
  <p:tag name="IGUANATEXCURSOR" val="277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,7293"/>
  <p:tag name="ORIGINALWIDTH" val="1880,015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ket{\Psi(\Delta t)} = \hat{U}\left(\Delta t\right) \ket{\Psi} = e^{-i\Delta t\hat{H}} \ket{\Psi}&#10;\end{equation*}&#10;\end{document}"/>
  <p:tag name="IGUANATEXSIZE" val="28"/>
  <p:tag name="IGUANATEXCURSOR" val="37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,2141"/>
  <p:tag name="ORIGINALWIDTH" val="2646,419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hat{H} = \sum_{j \text{ even}}\hat{h}^{[j, j+1]} + \sum_{j \text{ odd}}\hat{h}^{[j, j+1]} \eqqcolon \hat{H}_\text{even} + \hat{H}_\text{odd}&#10;\end{equation*}&#10;\end{document}"/>
  <p:tag name="IGUANATEXSIZE" val="28"/>
  <p:tag name="IGUANATEXCURSOR" val="418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,4773"/>
  <p:tag name="ORIGINALWIDTH" val="3262,842"/>
  <p:tag name="OUTPUTTYPE" val="PNG"/>
  <p:tag name="IGUANATEXVERSION" val="160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hat{U}(\Delta t) = e^{-i\Delta t\left(\hat{H}_\text{even} + \hat{H}_\text{odd}\right)} = e^{-i\Delta t\hat{H}_\text{even}}e^{-i\Delta t\hat{H}_\text{odd}} + \mathcal{O}\left(\Delta t^2\right)&#10;\end{equation*}&#10;\end{document}"/>
  <p:tag name="IGUANATEXSIZE" val="28"/>
  <p:tag name="IGUANATEXCURSOR" val="43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0,7124"/>
  <p:tag name="ORIGINALWIDTH" val="2722,16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e^{-i\Delta t\hat{H}_\text{even}} = \prod_{j \text{ even}} e^{-i\Delta t \hat{h}^{[j, j+1]}} = \prod_{j \text{ even}} \hat{U}^{[j,j+1]}(\Delta t)&#10;\end{equation*}&#10;\end{document}"/>
  <p:tag name="IGUANATEXSIZE" val="28"/>
  <p:tag name="IGUANATEXCURSOR" val="42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2333,708"/>
  <p:tag name="LATEXADDIN" val="\documentclass{article}&#10;\usepackage{braket}&#10;\usepackage{amsmath}&#10;\usepackage{amssymb}&#10;\usepackage{mathtools}&#10;\DeclareMathAlphabet{\mathbbb}{U}{bbold}{m}{n}&#10;\newcommand{\id}{\mathbbb{1}}&#10;\newcommand{\Stiefel}{\text{St}(n,p)}&#10;\pagestyle{empty}&#10;\begin{document}&#10;\begin{equation*}&#10;\Psi_{i_1,i_2,\cdots,i_N} \coloneqq \mathcal{C}\left(T^{[1],i_1}, T^{[2],i_2}, \dots, T^{[N],i_N}\right)&#10;\end{equation*}&#10;\end{document}"/>
  <p:tag name="IGUANATEXSIZE" val="28"/>
  <p:tag name="IGUANATEXCURSOR" val="38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,73937"/>
  <p:tag name="ORIGINALWIDTH" val="95,98803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D&#10;\end{equation*}&#10;\end{document}"/>
  <p:tag name="IGUANATEXSIZE" val="28"/>
  <p:tag name="IGUANATEXCURSOR" val="63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,4822"/>
  <p:tag name="ORIGINALWIDTH" val="342,707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7)&#10;\end{equation*}&#10;\end{document}"/>
  <p:tag name="IGUANATEXSIZE" val="28"/>
  <p:tag name="IGUANATEXCURSOR" val="650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392,201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{12})&#10;\end{equation*}&#10;\end{document}"/>
  <p:tag name="IGUANATEXSIZE" val="28"/>
  <p:tag name="IGUANATEXCURSOR" val="653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,73937"/>
  <p:tag name="ORIGINALWIDTH" val="95,98803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D&#10;\end{equation*}&#10;\end{document}"/>
  <p:tag name="IGUANATEXSIZE" val="28"/>
  <p:tag name="IGUANATEXCURSOR" val="63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,9835"/>
  <p:tag name="ORIGINALWIDTH" val="638,920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lVert\ket{\Psi}-\ket{\Psi^\prime}\rVert&#10;\end{equation*}&#10;\end{document}"/>
  <p:tag name="IGUANATEXSIZE" val="28"/>
  <p:tag name="IGUANATEXCURSOR" val="67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074,616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= \sqrt{2-2\Re\braket{\Psi^\prime|\Psi}}&#10;\end{equation*}&#10;\end{document}"/>
  <p:tag name="IGUANATEXSIZE" val="28"/>
  <p:tag name="IGUANATEXCURSOR" val="67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6,9704"/>
  <p:tag name="ORIGINALWIDTH" val="2222,72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 (T_\text{opt}^\prime, W_{1,\text{opt}}^\prime, W_{2,\text{opt}}^\prime) = \underset{T,W_1^\prime,W_2^\prime}{\argmax}\Re\braket{\Psi^\prime|\Psi}&#10;\end{equation*}&#10;\end{document}"/>
  <p:tag name="IGUANATEXSIZE" val="28"/>
  <p:tag name="IGUANATEXCURSOR" val="78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,9802"/>
  <p:tag name="ORIGINALWIDTH" val="2098,98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T^{\prime\dagger}T^\prime = \id, \quad W_1^{\prime\dagger}W_1^\prime = \id, \quad \left\lVert W_2^\prime \right\rVert_\text{F} = 1&#10;\end{equation*}&#10;\end{document}"/>
  <p:tag name="IGUANATEXSIZE" val="28"/>
  <p:tag name="IGUANATEXCURSOR" val="76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,9835"/>
  <p:tag name="ORIGINALWIDTH" val="833,145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e\braket{\Psi^\prime|\Psi} = \Re&#10;\end{equation*}&#10;\end{document}"/>
  <p:tag name="IGUANATEXSIZE" val="28"/>
  <p:tag name="IGUANATEXCURSOR" val="663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6,9704"/>
  <p:tag name="ORIGINALWIDTH" val="2222,72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 (T_\text{opt}^\prime, W_{1,\text{opt}}^\prime, W_{2,\text{opt}}^\prime) = \underset{T,W_1^\prime,W_2^\prime}{\argmax}\Re\braket{\Psi^\prime|\Psi}&#10;\end{equation*}&#10;\end{document}"/>
  <p:tag name="IGUANATEXSIZE" val="28"/>
  <p:tag name="IGUANATEXCURSOR" val="78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,2182"/>
  <p:tag name="ORIGINALWIDTH" val="1826,77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f_\text{Rényi}\left(U,\theta,\alpha\right) = \frac{1}{1-\alpha}\log\Tr\left(\rho^\alpha\right)&#10;\end{equation*}&#10;\end{document}"/>
  <p:tag name="IGUANATEXSIZE" val="28"/>
  <p:tag name="IGUANATEXCURSOR" val="729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,4799"/>
  <p:tag name="ORIGINALWIDTH" val="953,880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ho = \Tr_{(j, r)}(\ket{\tilde{\theta}}\bra{\tilde{\theta}})&#10;\end{equation*}&#10;\end{document}"/>
  <p:tag name="IGUANATEXSIZE" val="28"/>
  <p:tag name="IGUANATEXCURSOR" val="69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,73756"/>
  <p:tag name="ORIGINALWIDTH" val="293,963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\le 1&#10;\end{equation*}&#10;\end{document}"/>
  <p:tag name="IGUANATEXSIZE" val="28"/>
  <p:tag name="IGUANATEXCURSOR" val="647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293,963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&gt; 1&#10;\end{equation*}&#10;\end{document}"/>
  <p:tag name="IGUANATEXSIZE" val="28"/>
  <p:tag name="IGUANATEXCURSOR" val="64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,2317"/>
  <p:tag name="ORIGINALWIDTH" val="1715,786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f_\text{Rényi}\left(U,\theta,\alpha=2\right) = -\log\Tr\rho^2&#10;\end{equation*}&#10;\end{document}"/>
  <p:tag name="IGUANATEXSIZE" val="28"/>
  <p:tag name="IGUANATEXCURSOR" val="69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6,4829"/>
  <p:tag name="ORIGINALWIDTH" val="254,218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Tr\rho^2&#10;\end{equation*}&#10;\end{document}"/>
  <p:tag name="IGUANATEXSIZE" val="28"/>
  <p:tag name="IGUANATEXCURSOR" val="644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,74126"/>
  <p:tag name="ORIGINALWIDTH" val="110,9861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ightarrow&#10;\end{equation*}&#10;\end{document}"/>
  <p:tag name="IGUANATEXSIZE" val="28"/>
  <p:tag name="IGUANATEXCURSOR" val="64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342,707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&#10;\end{equation*}&#10;\end{document}"/>
  <p:tag name="IGUANATEXSIZE" val="28"/>
  <p:tag name="IGUANATEXCURSOR" val="650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2354"/>
  <p:tag name="ORIGINALWIDTH" val="297,712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alpha \neq 2&#10;\end{equation*}&#10;\end{document}"/>
  <p:tag name="IGUANATEXSIZE" val="28"/>
  <p:tag name="IGUANATEXCURSOR" val="648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342,707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&#10;\end{equation*}&#10;\end{document}"/>
  <p:tag name="IGUANATEXSIZE" val="28"/>
  <p:tag name="IGUANATEXCURSOR" val="647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,219"/>
  <p:tag name="ORIGINALWIDTH" val="1405,32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Big(\nabla f_\text{Rényi}\left(U,\theta,\alpha\right)\Big)_{i,j,k,l}\propto&#10;\end{equation*}&#10;\end{document}"/>
  <p:tag name="IGUANATEXSIZE" val="28"/>
  <p:tag name="IGUANATEXCURSOR" val="689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898,3877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9) \rightarrow \mathcal{O}(D^8)&#10;\end{equation*}&#10;\end{document}"/>
  <p:tag name="IGUANATEXSIZE" val="28"/>
  <p:tag name="IGUANATEXCURSOR" val="679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071,616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ket{\Psi^\prime} = \hat{U}^{[i,j]}(\Delta t) \ket{\Psi}&#10;\end{equation*}&#10;\end{document}"/>
  <p:tag name="IGUANATEXSIZE" val="28"/>
  <p:tag name="IGUANATEXCURSOR" val="64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2050,24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(T_{i,\text{opt}}^\prime, T_{j,\text{opt}}^\prime, W_{1,\text{opt}}^\prime, W_{2,\text{opt}}^\prime, W_{3,\text{opt}}^\prime)= &#10;\end{equation*}&#10;\end{document}"/>
  <p:tag name="IGUANATEXSIZE" val="28"/>
  <p:tag name="IGUANATEXCURSOR" val="76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,4665"/>
  <p:tag name="ORIGINALWIDTH" val="1882,265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underset{T_i^\prime, T_j^\prime, W_1^\prime, W_2^\prime, W_3^\prime}{\argmax}\Re\bra{\Psi^\prime}\hat{U}^{[i,j]}(\Delta t)\ket{\Psi}&#10;\end{equation*}&#10;\end{document}"/>
  <p:tag name="IGUANATEXSIZE" val="28"/>
  <p:tag name="IGUANATEXCURSOR" val="768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385,077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Re\braket{\Psi^\prime|\hat{U}^{[i,j]}(\Delta t)|\Psi} = \Re&#10;\end{equation*}&#10;\end{document}"/>
  <p:tag name="IGUANATEXSIZE" val="28"/>
  <p:tag name="IGUANATEXCURSOR" val="69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727,78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1}(\Delta t) + \mathcal{O}(\Delta t^2)&#10;\end{equation*}&#10;\end{document}"/>
  <p:tag name="IGUANATEXSIZE" val="28"/>
  <p:tag name="IGUANATEXCURSOR" val="71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727,78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1}(\Delta t) + \mathcal{O}(\Delta t^2)&#10;\end{equation*}&#10;\end{document}"/>
  <p:tag name="IGUANATEXSIZE" val="28"/>
  <p:tag name="IGUANATEXCURSOR" val="71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727,78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2}(\Delta t) + \mathcal{O}(\Delta t^3)&#10;\end{equation*}&#10;\end{document}"/>
  <p:tag name="IGUANATEXSIZE" val="28"/>
  <p:tag name="IGUANATEXCURSOR" val="71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,7131"/>
  <p:tag name="ORIGINALWIDTH" val="1688,789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H}_\text{TFI} = -J\sum_{\langle i,j\rangle} \hat{\sigma}^x_i \hat{\sigma}^x_j - g\sum_{i} \hat{\sigma}^z_i&#10;\end{equation*}&#10;\end{document}"/>
  <p:tag name="IGUANATEXSIZE" val="28"/>
  <p:tag name="IGUANATEXCURSOR" val="74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,4863"/>
  <p:tag name="ORIGINALWIDTH" val="631,4211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 \approx 3.04438&#10;\end{equation*}&#10;\end{document}"/>
  <p:tag name="IGUANATEXSIZE" val="28"/>
  <p:tag name="IGUANATEXCURSOR" val="65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652,043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varepsilon_\text{TEBD} = \varepsilon_\text{Trotter} + \varepsilon_\text{local} + \varepsilon_\text{YB}&#10;\end{equation*}&#10;\end{document}"/>
  <p:tag name="IGUANATEXSIZE" val="28"/>
  <p:tag name="IGUANATEXCURSOR" val="737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154,106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varepsilon_\text{Trotter} + \varepsilon_\text{local} \approx \varepsilon_\text{YB}&#10;\end{equation*}&#10;\end{document}"/>
  <p:tag name="IGUANATEXSIZE" val="28"/>
  <p:tag name="IGUANATEXCURSOR" val="717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4,1845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/>
  <p:tag name="IGUANATEXSIZE" val="18"/>
  <p:tag name="IGUANATEXCURSOR" val="64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4,1845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/>
  <p:tag name="IGUANATEXSIZE" val="18"/>
  <p:tag name="IGUANATEXCURSOR" val="64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4,1845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/>
  <p:tag name="IGUANATEXSIZE" val="18"/>
  <p:tag name="IGUANATEXCURSOR" val="64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4,1845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/J = 3.5&#10;\end{equation*}&#10;\end{document}"/>
  <p:tag name="IGUANATEXSIZE" val="18"/>
  <p:tag name="IGUANATEXCURSOR" val="645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,24"/>
  <p:tag name="ORIGINALWIDTH" val="353,2058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g = g_\text{C}&#10;\end{equation*}&#10;\end{document}"/>
  <p:tag name="IGUANATEXSIZE" val="18"/>
  <p:tag name="IGUANATEXCURSOR" val="636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342,7072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mathcal{O}(D^8)&#10;\end{equation*}&#10;\end{document}"/>
  <p:tag name="IGUANATEXSIZE" val="28"/>
  <p:tag name="IGUANATEXCURSOR" val="650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682,4147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braket{\Psi|\hat{O}_{i,j}|\Psi} =&#10;\end{equation*}&#10;\end{document}"/>
  <p:tag name="IGUANATEXSIZE" val="28"/>
  <p:tag name="IGUANATEXCURSOR" val="669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727,784"/>
  <p:tag name="LATEXADDIN" val="\documentclass{article}&#10;\usepackage{braket}&#10;\usepackage{amsmath}&#10;\usepackage{amssymb}&#10;\usepackage{mathtools}&#10;\DeclareMathAlphabet{\mathbbb}{U}{bbold}{m}{n}&#10;\DeclareMathAlphabet{\mathbbb}{U}{bbold}{m}{n}&#10;\DeclareMathOperator{\Tr}{Tr}&#10;\let\Re\relax&#10;\DeclareMathOperator{\Re}{Re}&#10;\let\Im\relax&#10;\DeclareMathOperator{\Im}{Im}&#10;\DeclareMathOperator{\argmax}{argmax}&#10;\DeclareMathOperator{\argmin}{argmin}&#10;\DeclareMathOperator{\qf}{qf}&#10;%\DeclareMathOperator{\mod}{mod}&#10;\newcommand{\id}{\mathbbb{1}}&#10;\newcommand{\iu}{\mathrm{i}}% imaginary unit number i&#10;\newcommand{\Stiefel}{\text{St}(n,p)}&#10;\pagestyle{empty}&#10;\begin{document}&#10;\begin{equation*}&#10;\hat{U}(\Delta t) = \hat{U}^\text{TEBD2}(\Delta t) + \mathcal{O}(\Delta t^3)&#10;\end{equation*}&#10;\end{document}"/>
  <p:tag name="IGUANATEXSIZE" val="28"/>
  <p:tag name="IGUANATEXCURSOR" val="711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Breitbild</PresentationFormat>
  <Paragraphs>225</Paragraphs>
  <Slides>56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56</vt:i4>
      </vt:variant>
    </vt:vector>
  </HeadingPairs>
  <TitlesOfParts>
    <vt:vector size="63" baseType="lpstr">
      <vt:lpstr>Aptos</vt:lpstr>
      <vt:lpstr>Aptos Display</vt:lpstr>
      <vt:lpstr>Arial</vt:lpstr>
      <vt:lpstr>CMR10</vt:lpstr>
      <vt:lpstr>Times New Roman</vt:lpstr>
      <vt:lpstr>Times-Roman</vt:lpstr>
      <vt:lpstr>Office</vt:lpstr>
      <vt:lpstr>Development of a Diagonal Isometric Tensor Network Algorithm</vt:lpstr>
      <vt:lpstr>Simulation of QMB systems</vt:lpstr>
      <vt:lpstr>Contents</vt:lpstr>
      <vt:lpstr>Contents</vt:lpstr>
      <vt:lpstr>Tensor Networks</vt:lpstr>
      <vt:lpstr>Index Contractions</vt:lpstr>
      <vt:lpstr>Matrix Product States</vt:lpstr>
      <vt:lpstr>Isometries</vt:lpstr>
      <vt:lpstr>Canonical Form</vt:lpstr>
      <vt:lpstr>Local Expectation Values</vt:lpstr>
      <vt:lpstr>Time Evolving Block Decimation (TEBD)</vt:lpstr>
      <vt:lpstr>Time Evolving Block Decimation (TEBD)</vt:lpstr>
      <vt:lpstr>Time Evolving Block Decimation (TEBD)</vt:lpstr>
      <vt:lpstr>Contents</vt:lpstr>
      <vt:lpstr>Projected Entangled Pair States (PEPS)</vt:lpstr>
      <vt:lpstr>Isometric Tensor Product State</vt:lpstr>
      <vt:lpstr>Moses-Move (MM)</vt:lpstr>
      <vt:lpstr>Moses-Move (MM)</vt:lpstr>
      <vt:lpstr>Algorithms on isoTPS</vt:lpstr>
      <vt:lpstr>Contents</vt:lpstr>
      <vt:lpstr>Alternative canonical form</vt:lpstr>
      <vt:lpstr>Moving the orthogonality hypersurface</vt:lpstr>
      <vt:lpstr>Yang-Baxter (YB) Move</vt:lpstr>
      <vt:lpstr>Yang-Baxter (YB) Move</vt:lpstr>
      <vt:lpstr>YB-move: Variational optimization</vt:lpstr>
      <vt:lpstr>YB-move: Variational optimization</vt:lpstr>
      <vt:lpstr>YB-move: Tripartite decomposition</vt:lpstr>
      <vt:lpstr>Disentangling procedure</vt:lpstr>
      <vt:lpstr>Disentangling procedure</vt:lpstr>
      <vt:lpstr>Renyi-2 disentangling</vt:lpstr>
      <vt:lpstr>Renyi-2 disentangling</vt:lpstr>
      <vt:lpstr>Riemannian optimization</vt:lpstr>
      <vt:lpstr>Riemannian optimization</vt:lpstr>
      <vt:lpstr>Approximate Gradients</vt:lpstr>
      <vt:lpstr>Approximate Gradients</vt:lpstr>
      <vt:lpstr>TEBD: Local updates</vt:lpstr>
      <vt:lpstr>TEBD: Local updates</vt:lpstr>
      <vt:lpstr>TEBD1</vt:lpstr>
      <vt:lpstr>TEBD1 vs TEBD2</vt:lpstr>
      <vt:lpstr>Transverse Field Ising (TFI) model</vt:lpstr>
      <vt:lpstr>Ground state search with imaginary TEBD</vt:lpstr>
      <vt:lpstr>Comparing YB-move algorithms</vt:lpstr>
      <vt:lpstr>TEBD1 vs TEBD2</vt:lpstr>
      <vt:lpstr>Larger lattices</vt:lpstr>
      <vt:lpstr>Larger lattices</vt:lpstr>
      <vt:lpstr>Real-time evolution: Global quench</vt:lpstr>
      <vt:lpstr>Summary &amp; Outlook</vt:lpstr>
      <vt:lpstr>                      </vt:lpstr>
      <vt:lpstr>Moses-Move (MM) – Tripartite Decomposition</vt:lpstr>
      <vt:lpstr>Isometric Tensors</vt:lpstr>
      <vt:lpstr>Moving the Orthogonality Center</vt:lpstr>
      <vt:lpstr>DMRG extrapolation</vt:lpstr>
      <vt:lpstr>Local Expectation Values</vt:lpstr>
      <vt:lpstr>TEBD2</vt:lpstr>
      <vt:lpstr>PowerPoint-Präsentation</vt:lpstr>
      <vt:lpstr>Ground state search logarithmic 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Sappler, Benjamin</dc:creator>
  <cp:lastModifiedBy>Sappler, Benjamin</cp:lastModifiedBy>
  <cp:revision>286</cp:revision>
  <dcterms:created xsi:type="dcterms:W3CDTF">2024-07-28T14:04:28Z</dcterms:created>
  <dcterms:modified xsi:type="dcterms:W3CDTF">2024-08-05T16:52:58Z</dcterms:modified>
</cp:coreProperties>
</file>